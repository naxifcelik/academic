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79" r:id="rId3"/>
    <p:sldId id="280" r:id="rId4"/>
    <p:sldId id="262" r:id="rId5"/>
    <p:sldId id="263" r:id="rId6"/>
    <p:sldId id="270" r:id="rId7"/>
    <p:sldId id="264" r:id="rId8"/>
    <p:sldId id="265" r:id="rId9"/>
    <p:sldId id="266" r:id="rId10"/>
    <p:sldId id="276" r:id="rId11"/>
    <p:sldId id="256" r:id="rId12"/>
    <p:sldId id="257" r:id="rId13"/>
    <p:sldId id="258" r:id="rId14"/>
    <p:sldId id="259" r:id="rId15"/>
    <p:sldId id="260" r:id="rId16"/>
    <p:sldId id="271" r:id="rId17"/>
    <p:sldId id="272" r:id="rId18"/>
    <p:sldId id="273" r:id="rId19"/>
    <p:sldId id="281" r:id="rId20"/>
    <p:sldId id="274" r:id="rId21"/>
    <p:sldId id="275" r:id="rId2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8B26CA-DD9C-7229-F82F-84119A74CC5C}" v="43" dt="2025-05-29T23:35:13.470"/>
    <p1510:client id="{6DA04ABA-AEAC-687E-452C-CB4586ADB78D}" v="46" dt="2025-05-29T13:21:25.692"/>
    <p1510:client id="{727B31FA-5CF2-0D76-11D8-3E2A0BC837A1}" v="340" dt="2025-05-29T23:12:16.569"/>
    <p1510:client id="{B12A52F0-AAD0-8338-9480-C9C14E26F385}" v="265" dt="2025-05-29T02:02:00.597"/>
    <p1510:client id="{BBE35DAB-F9C7-906F-7E85-5A1DD5DB2485}" v="9" dt="2025-05-30T06:59:58.116"/>
    <p1510:client id="{BCDCD827-2B78-9121-093A-599B7AF42F25}" v="240" dt="2025-05-29T20:35:12.708"/>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30.05.2025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30.05.2025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30.05.2025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30.05.2025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30.05.2025</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30.05.2025</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30.05.2025</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30.05.2025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30.05.2025</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30.05.2025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30.05.2025</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30.05.2025</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sciencedirect.com/science/article/pii/S235201242200768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C0127E-4E96-368F-BE78-033E999EBFCF}"/>
              </a:ext>
            </a:extLst>
          </p:cNvPr>
          <p:cNvSpPr>
            <a:spLocks noGrp="1"/>
          </p:cNvSpPr>
          <p:nvPr>
            <p:ph type="title"/>
          </p:nvPr>
        </p:nvSpPr>
        <p:spPr>
          <a:xfrm>
            <a:off x="589560" y="856180"/>
            <a:ext cx="4560584" cy="1128068"/>
          </a:xfrm>
        </p:spPr>
        <p:txBody>
          <a:bodyPr anchor="ctr">
            <a:normAutofit/>
          </a:bodyPr>
          <a:lstStyle/>
          <a:p>
            <a:r>
              <a:rPr lang="tr-TR" sz="2800">
                <a:ea typeface="+mj-lt"/>
                <a:cs typeface="+mj-lt"/>
              </a:rPr>
              <a:t>Explainable Voltage Prediction using NAMs in Power Grids </a:t>
            </a:r>
          </a:p>
        </p:txBody>
      </p:sp>
      <p:grpSp>
        <p:nvGrpSpPr>
          <p:cNvPr id="8"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889E679-02B1-A775-26AF-933F4DEDE25A}"/>
              </a:ext>
            </a:extLst>
          </p:cNvPr>
          <p:cNvSpPr>
            <a:spLocks noGrp="1"/>
          </p:cNvSpPr>
          <p:nvPr>
            <p:ph idx="1"/>
          </p:nvPr>
        </p:nvSpPr>
        <p:spPr>
          <a:xfrm>
            <a:off x="590719" y="2330505"/>
            <a:ext cx="4559425" cy="3979585"/>
          </a:xfrm>
        </p:spPr>
        <p:txBody>
          <a:bodyPr vert="horz" lIns="91440" tIns="45720" rIns="91440" bIns="45720" rtlCol="0" anchor="ctr">
            <a:normAutofit/>
          </a:bodyPr>
          <a:lstStyle/>
          <a:p>
            <a:pPr marL="0" indent="0">
              <a:buNone/>
            </a:pPr>
            <a:endParaRPr lang="tr-TR" sz="2000"/>
          </a:p>
          <a:p>
            <a:pPr marL="0" indent="0">
              <a:buNone/>
            </a:pPr>
            <a:endParaRPr lang="tr-TR" sz="2000"/>
          </a:p>
          <a:p>
            <a:pPr marL="0" indent="0">
              <a:buNone/>
            </a:pPr>
            <a:endParaRPr lang="tr-TR" sz="2000"/>
          </a:p>
          <a:p>
            <a:pPr>
              <a:buNone/>
            </a:pPr>
            <a:endParaRPr lang="tr-TR" sz="2000" baseline="30000">
              <a:latin typeface="Aptos Display"/>
            </a:endParaRPr>
          </a:p>
          <a:p>
            <a:pPr marL="0" indent="0">
              <a:buNone/>
            </a:pPr>
            <a:br>
              <a:rPr lang="tr-TR" sz="2000"/>
            </a:br>
            <a:endParaRPr lang="tr-TR"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etin, ekran görüntüsü, grafik tasarım, tasarım içeren bir resim&#10;&#10;Yapay zeka tarafından oluşturulmuş içerik yanlış olabilir.">
            <a:extLst>
              <a:ext uri="{FF2B5EF4-FFF2-40B4-BE49-F238E27FC236}">
                <a16:creationId xmlns:a16="http://schemas.microsoft.com/office/drawing/2014/main" id="{2425530B-1035-133F-D9E8-6A2572236C03}"/>
              </a:ext>
            </a:extLst>
          </p:cNvPr>
          <p:cNvPicPr>
            <a:picLocks noChangeAspect="1"/>
          </p:cNvPicPr>
          <p:nvPr/>
        </p:nvPicPr>
        <p:blipFill>
          <a:blip r:embed="rId2"/>
          <a:srcRect r="1" b="26328"/>
          <a:stretch>
            <a:fillRect/>
          </a:stretch>
        </p:blipFill>
        <p:spPr>
          <a:xfrm>
            <a:off x="5977788" y="799352"/>
            <a:ext cx="5425410" cy="5259296"/>
          </a:xfrm>
          <a:prstGeom prst="rect">
            <a:avLst/>
          </a:prstGeom>
        </p:spPr>
      </p:pic>
      <p:sp>
        <p:nvSpPr>
          <p:cNvPr id="6" name="Metin kutusu 5">
            <a:extLst>
              <a:ext uri="{FF2B5EF4-FFF2-40B4-BE49-F238E27FC236}">
                <a16:creationId xmlns:a16="http://schemas.microsoft.com/office/drawing/2014/main" id="{EB629C1C-EDA9-07FF-794F-9B5AD9A8CCB1}"/>
              </a:ext>
            </a:extLst>
          </p:cNvPr>
          <p:cNvSpPr txBox="1"/>
          <p:nvPr/>
        </p:nvSpPr>
        <p:spPr>
          <a:xfrm>
            <a:off x="497060" y="2475743"/>
            <a:ext cx="454045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aseline="30000" dirty="0">
                <a:latin typeface="55"/>
              </a:rPr>
              <a:t>Modern electrical distribution networks are experiencing significant transformations due to the integration of distributed energy resources  such as photovoltaic (PV) systems. </a:t>
            </a:r>
            <a:endParaRPr lang="tr-TR" sz="2800">
              <a:latin typeface="55"/>
            </a:endParaRPr>
          </a:p>
          <a:p>
            <a:pPr algn="l"/>
            <a:endParaRPr lang="tr-TR" sz="3600" dirty="0">
              <a:latin typeface="55"/>
            </a:endParaRPr>
          </a:p>
        </p:txBody>
      </p:sp>
    </p:spTree>
    <p:extLst>
      <p:ext uri="{BB962C8B-B14F-4D97-AF65-F5344CB8AC3E}">
        <p14:creationId xmlns:p14="http://schemas.microsoft.com/office/powerpoint/2010/main" val="3665298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836BC6-A27D-CB15-56E2-A7B25D47857B}"/>
              </a:ext>
            </a:extLst>
          </p:cNvPr>
          <p:cNvSpPr>
            <a:spLocks noGrp="1"/>
          </p:cNvSpPr>
          <p:nvPr>
            <p:ph type="title"/>
          </p:nvPr>
        </p:nvSpPr>
        <p:spPr>
          <a:xfrm>
            <a:off x="630936" y="639520"/>
            <a:ext cx="3429000" cy="1719072"/>
          </a:xfrm>
        </p:spPr>
        <p:txBody>
          <a:bodyPr anchor="b">
            <a:normAutofit/>
          </a:bodyPr>
          <a:lstStyle/>
          <a:p>
            <a:r>
              <a:rPr lang="tr-TR" sz="5400"/>
              <a:t>PV-Based Scenario</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62435E8C-9DDE-23ED-5336-3AA38BA44815}"/>
              </a:ext>
            </a:extLst>
          </p:cNvPr>
          <p:cNvSpPr>
            <a:spLocks noGrp="1"/>
          </p:cNvSpPr>
          <p:nvPr>
            <p:ph idx="1"/>
          </p:nvPr>
        </p:nvSpPr>
        <p:spPr>
          <a:xfrm>
            <a:off x="630936" y="2807208"/>
            <a:ext cx="3429000" cy="3410712"/>
          </a:xfrm>
        </p:spPr>
        <p:txBody>
          <a:bodyPr vert="horz" lIns="91440" tIns="45720" rIns="91440" bIns="45720" rtlCol="0" anchor="t">
            <a:noAutofit/>
          </a:bodyPr>
          <a:lstStyle/>
          <a:p>
            <a:pPr marL="0" indent="0">
              <a:buNone/>
            </a:pPr>
            <a:r>
              <a:rPr lang="en-US" sz="1600" dirty="0"/>
              <a:t>The aim is to analyze how different DER configurations influence the network's voltage profile and identify  reconfiguration strategies that can improve voltage regulation and  minimize  active power losses. To achieve this, develop surrogate models to  approximate the network behavior, evaluate their performance using test scenarios, and apply explainable AI (XAI) techniques.</a:t>
            </a:r>
          </a:p>
          <a:p>
            <a:endParaRPr lang="en-US" sz="2400" dirty="0"/>
          </a:p>
        </p:txBody>
      </p:sp>
      <p:pic>
        <p:nvPicPr>
          <p:cNvPr id="4" name="Content Placeholder 3" descr="Source: Rfassbind (Own work.) [Public domain], via Wikimedia Commons">
            <a:extLst>
              <a:ext uri="{FF2B5EF4-FFF2-40B4-BE49-F238E27FC236}">
                <a16:creationId xmlns:a16="http://schemas.microsoft.com/office/drawing/2014/main" id="{E7BAE817-9CD8-41B1-FC94-EE69FB914597}"/>
              </a:ext>
            </a:extLst>
          </p:cNvPr>
          <p:cNvPicPr>
            <a:picLocks noChangeAspect="1"/>
          </p:cNvPicPr>
          <p:nvPr/>
        </p:nvPicPr>
        <p:blipFill>
          <a:blip r:embed="rId2"/>
          <a:stretch>
            <a:fillRect/>
          </a:stretch>
        </p:blipFill>
        <p:spPr>
          <a:xfrm>
            <a:off x="4715371" y="640080"/>
            <a:ext cx="6781569" cy="5577840"/>
          </a:xfrm>
          <a:prstGeom prst="rect">
            <a:avLst/>
          </a:prstGeom>
        </p:spPr>
      </p:pic>
    </p:spTree>
    <p:extLst>
      <p:ext uri="{BB962C8B-B14F-4D97-AF65-F5344CB8AC3E}">
        <p14:creationId xmlns:p14="http://schemas.microsoft.com/office/powerpoint/2010/main" val="2731838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213A4-53C9-5DAD-F597-2BCB5E5C4A8B}"/>
              </a:ext>
            </a:extLst>
          </p:cNvPr>
          <p:cNvSpPr>
            <a:spLocks noGrp="1"/>
          </p:cNvSpPr>
          <p:nvPr>
            <p:ph type="title"/>
          </p:nvPr>
        </p:nvSpPr>
        <p:spPr/>
        <p:txBody>
          <a:bodyPr/>
          <a:lstStyle/>
          <a:p>
            <a:r>
              <a:rPr lang="tr-TR" dirty="0" err="1"/>
              <a:t>Features</a:t>
            </a:r>
            <a:r>
              <a:rPr lang="tr-TR" dirty="0"/>
              <a:t> Definition</a:t>
            </a:r>
            <a:endParaRPr lang="en-US"/>
          </a:p>
          <a:p>
            <a:endParaRPr lang="tr-TR" dirty="0"/>
          </a:p>
        </p:txBody>
      </p:sp>
      <p:sp>
        <p:nvSpPr>
          <p:cNvPr id="3" name="Content Placeholder 2">
            <a:extLst>
              <a:ext uri="{FF2B5EF4-FFF2-40B4-BE49-F238E27FC236}">
                <a16:creationId xmlns:a16="http://schemas.microsoft.com/office/drawing/2014/main" id="{E9B379FE-2F81-A731-B24A-E7A156F35328}"/>
              </a:ext>
            </a:extLst>
          </p:cNvPr>
          <p:cNvSpPr>
            <a:spLocks noGrp="1"/>
          </p:cNvSpPr>
          <p:nvPr>
            <p:ph idx="1"/>
          </p:nvPr>
        </p:nvSpPr>
        <p:spPr/>
        <p:txBody>
          <a:bodyPr vert="horz" lIns="91440" tIns="45720" rIns="91440" bIns="45720" rtlCol="0" anchor="t">
            <a:normAutofit/>
          </a:bodyPr>
          <a:lstStyle/>
          <a:p>
            <a:pPr marL="0" indent="0">
              <a:buNone/>
            </a:pPr>
            <a:endParaRPr lang="en-US" sz="1400" dirty="0">
              <a:ea typeface="+mn-lt"/>
              <a:cs typeface="+mn-lt"/>
            </a:endParaRPr>
          </a:p>
          <a:p>
            <a:pPr marL="0" indent="0">
              <a:buNone/>
            </a:pPr>
            <a:r>
              <a:rPr lang="en-US" sz="1400" dirty="0"/>
              <a:t>Tap1, Tap2 are the tap settings of two on-load tap changers,</a:t>
            </a:r>
          </a:p>
          <a:p>
            <a:pPr marL="0" indent="0">
              <a:buNone/>
            </a:pPr>
            <a:r>
              <a:rPr lang="en-US" sz="1400" dirty="0"/>
              <a:t>PV1loc – PV5loc are the bus IDs (integers from 2 to 33) where photovoltaic (PV) units are placed,</a:t>
            </a:r>
          </a:p>
          <a:p>
            <a:pPr marL="0" indent="0">
              <a:buNone/>
            </a:pPr>
            <a:r>
              <a:rPr lang="en-US" sz="1400" dirty="0"/>
              <a:t>PV1size – PV5size are the active power injection levels of each PV unit (e.g., in kW or normalized units).</a:t>
            </a:r>
            <a:endParaRPr lang="en-US" dirty="0"/>
          </a:p>
          <a:p>
            <a:pPr marL="0" indent="0">
              <a:buNone/>
            </a:pPr>
            <a:r>
              <a:rPr lang="en-US" sz="1400" dirty="0">
                <a:ea typeface="+mn-lt"/>
                <a:cs typeface="+mn-lt"/>
              </a:rPr>
              <a:t>File: </a:t>
            </a:r>
            <a:r>
              <a:rPr lang="en-US" sz="1400" dirty="0" err="1">
                <a:ea typeface="+mn-lt"/>
                <a:cs typeface="+mn-lt"/>
              </a:rPr>
              <a:t>verilerPV.mat</a:t>
            </a:r>
            <a:r>
              <a:rPr lang="en-US" sz="1400" dirty="0">
                <a:ea typeface="+mn-lt"/>
                <a:cs typeface="+mn-lt"/>
              </a:rPr>
              <a:t> ---------&gt; input.csv + output.csv</a:t>
            </a:r>
            <a:endParaRPr lang="en-US" sz="1400" dirty="0"/>
          </a:p>
          <a:p>
            <a:pPr marL="0" indent="0">
              <a:buNone/>
            </a:pPr>
            <a:r>
              <a:rPr lang="en-US" sz="1400" dirty="0">
                <a:ea typeface="+mn-lt"/>
                <a:cs typeface="+mn-lt"/>
              </a:rPr>
              <a:t>Input.csv : shape (2000, 12) — input features: [Tap1, Tap2, PV1loc,…,PV5loc, PV1size, . . . , PV5size] ∈ 𝑅12</a:t>
            </a:r>
            <a:endParaRPr lang="en-US" dirty="0"/>
          </a:p>
          <a:p>
            <a:pPr marL="0" indent="0">
              <a:buNone/>
            </a:pPr>
            <a:r>
              <a:rPr lang="en-US" sz="1400" dirty="0">
                <a:ea typeface="+mn-lt"/>
                <a:cs typeface="+mn-lt"/>
              </a:rPr>
              <a:t>Output.csv : shape (2000, 33) — outputs: |V1|, |V2|, ..., |V33|∈ 𝑅33</a:t>
            </a:r>
            <a:endParaRPr lang="en-US" sz="1400" dirty="0"/>
          </a:p>
          <a:p>
            <a:pPr marL="0" indent="0">
              <a:buNone/>
            </a:pPr>
            <a:r>
              <a:rPr lang="en-US" sz="1400" dirty="0">
                <a:ea typeface="+mn-lt"/>
                <a:cs typeface="+mn-lt"/>
              </a:rPr>
              <a:t>Preprocessing:</a:t>
            </a:r>
            <a:endParaRPr lang="en-US" dirty="0"/>
          </a:p>
          <a:p>
            <a:pPr marL="0" indent="0">
              <a:buNone/>
            </a:pPr>
            <a:r>
              <a:rPr lang="en-US" sz="1400" dirty="0">
                <a:ea typeface="+mn-lt"/>
                <a:cs typeface="+mn-lt"/>
              </a:rPr>
              <a:t>Normalized input features using </a:t>
            </a:r>
            <a:r>
              <a:rPr lang="en-US" sz="1400" dirty="0" err="1">
                <a:ea typeface="+mn-lt"/>
                <a:cs typeface="+mn-lt"/>
              </a:rPr>
              <a:t>StandardScaler</a:t>
            </a:r>
            <a:endParaRPr lang="en-US" dirty="0" err="1"/>
          </a:p>
          <a:p>
            <a:pPr marL="0" indent="0">
              <a:buNone/>
            </a:pPr>
            <a:r>
              <a:rPr lang="en-US" sz="1400" dirty="0">
                <a:ea typeface="+mn-lt"/>
                <a:cs typeface="+mn-lt"/>
              </a:rPr>
              <a:t>80/20 split: 1600 samples for training, 400 for testing</a:t>
            </a:r>
            <a:endParaRPr lang="en-US" dirty="0"/>
          </a:p>
          <a:p>
            <a:pPr marL="0" indent="0">
              <a:buNone/>
            </a:pPr>
            <a:endParaRPr lang="en-US" sz="1400" dirty="0"/>
          </a:p>
          <a:p>
            <a:pPr marL="0" indent="0">
              <a:buNone/>
            </a:pPr>
            <a:endParaRPr lang="en-US" sz="1400" dirty="0"/>
          </a:p>
          <a:p>
            <a:endParaRPr lang="tr-TR" dirty="0"/>
          </a:p>
        </p:txBody>
      </p:sp>
    </p:spTree>
    <p:extLst>
      <p:ext uri="{BB962C8B-B14F-4D97-AF65-F5344CB8AC3E}">
        <p14:creationId xmlns:p14="http://schemas.microsoft.com/office/powerpoint/2010/main" val="3719965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2947B-77EC-0D02-1F18-8435E4C01EAB}"/>
              </a:ext>
            </a:extLst>
          </p:cNvPr>
          <p:cNvSpPr>
            <a:spLocks noGrp="1"/>
          </p:cNvSpPr>
          <p:nvPr>
            <p:ph type="title"/>
          </p:nvPr>
        </p:nvSpPr>
        <p:spPr/>
        <p:txBody>
          <a:bodyPr/>
          <a:lstStyle/>
          <a:p>
            <a:endParaRPr lang="tr-TR"/>
          </a:p>
        </p:txBody>
      </p:sp>
      <p:pic>
        <p:nvPicPr>
          <p:cNvPr id="10" name="Content Placeholder 9" descr="metin, ekran görüntüsü, yazı tipi, tasarım içeren bir resim&#10;&#10;Yapay zeka tarafından oluşturulmuş içerik yanlış olabilir.">
            <a:extLst>
              <a:ext uri="{FF2B5EF4-FFF2-40B4-BE49-F238E27FC236}">
                <a16:creationId xmlns:a16="http://schemas.microsoft.com/office/drawing/2014/main" id="{02B7A4BB-CBF9-FA82-672D-043E8E4AACD5}"/>
              </a:ext>
            </a:extLst>
          </p:cNvPr>
          <p:cNvPicPr>
            <a:picLocks noGrp="1" noChangeAspect="1"/>
          </p:cNvPicPr>
          <p:nvPr>
            <p:ph idx="1"/>
          </p:nvPr>
        </p:nvPicPr>
        <p:blipFill>
          <a:blip r:embed="rId2"/>
          <a:stretch>
            <a:fillRect/>
          </a:stretch>
        </p:blipFill>
        <p:spPr>
          <a:xfrm>
            <a:off x="838200" y="1842828"/>
            <a:ext cx="10515600" cy="4316931"/>
          </a:xfrm>
        </p:spPr>
      </p:pic>
    </p:spTree>
    <p:extLst>
      <p:ext uri="{BB962C8B-B14F-4D97-AF65-F5344CB8AC3E}">
        <p14:creationId xmlns:p14="http://schemas.microsoft.com/office/powerpoint/2010/main" val="4010374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metin, ekran görüntüsü, diyagram, paralel içeren bir resim&#10;&#10;Yapay zeka tarafından oluşturulmuş içerik yanlış olabilir.">
            <a:extLst>
              <a:ext uri="{FF2B5EF4-FFF2-40B4-BE49-F238E27FC236}">
                <a16:creationId xmlns:a16="http://schemas.microsoft.com/office/drawing/2014/main" id="{DCC8C260-8A07-003E-76DB-258DECD61040}"/>
              </a:ext>
            </a:extLst>
          </p:cNvPr>
          <p:cNvPicPr>
            <a:picLocks noGrp="1" noChangeAspect="1"/>
          </p:cNvPicPr>
          <p:nvPr>
            <p:ph idx="1"/>
          </p:nvPr>
        </p:nvPicPr>
        <p:blipFill>
          <a:blip r:embed="rId2"/>
          <a:stretch>
            <a:fillRect/>
          </a:stretch>
        </p:blipFill>
        <p:spPr>
          <a:xfrm>
            <a:off x="845535" y="325966"/>
            <a:ext cx="10511513" cy="6216650"/>
          </a:xfrm>
          <a:prstGeom prst="rect">
            <a:avLst/>
          </a:prstGeom>
        </p:spPr>
      </p:pic>
    </p:spTree>
    <p:extLst>
      <p:ext uri="{BB962C8B-B14F-4D97-AF65-F5344CB8AC3E}">
        <p14:creationId xmlns:p14="http://schemas.microsoft.com/office/powerpoint/2010/main" val="3780439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CB622F-2F4F-2C3D-D081-E1E3867E5898}"/>
              </a:ext>
            </a:extLst>
          </p:cNvPr>
          <p:cNvSpPr>
            <a:spLocks noGrp="1"/>
          </p:cNvSpPr>
          <p:nvPr>
            <p:ph type="title"/>
          </p:nvPr>
        </p:nvSpPr>
        <p:spPr>
          <a:xfrm>
            <a:off x="411480" y="991443"/>
            <a:ext cx="4443154" cy="1087819"/>
          </a:xfrm>
        </p:spPr>
        <p:txBody>
          <a:bodyPr anchor="b">
            <a:normAutofit/>
          </a:bodyPr>
          <a:lstStyle/>
          <a:p>
            <a:r>
              <a:rPr lang="tr-TR" sz="3400" dirty="0" err="1"/>
              <a:t>Input</a:t>
            </a:r>
            <a:r>
              <a:rPr lang="tr-TR" sz="3400" dirty="0"/>
              <a:t> </a:t>
            </a:r>
            <a:r>
              <a:rPr lang="tr-TR" sz="3400" dirty="0" err="1"/>
              <a:t>Features</a:t>
            </a:r>
            <a:r>
              <a:rPr lang="tr-TR" sz="3400" dirty="0"/>
              <a:t> </a:t>
            </a:r>
            <a:r>
              <a:rPr lang="tr-TR" sz="3400" dirty="0" err="1"/>
              <a:t>Correlation</a:t>
            </a:r>
          </a:p>
        </p:txBody>
      </p:sp>
      <p:sp>
        <p:nvSpPr>
          <p:cNvPr id="13" name="Rectangle 1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8B7103AA-5FE4-E703-4819-0DA68344B6F5}"/>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2400" dirty="0"/>
              <a:t>There is not any correlation between input features.</a:t>
            </a:r>
          </a:p>
          <a:p>
            <a:pPr marL="0" indent="0">
              <a:buNone/>
            </a:pPr>
            <a:endParaRPr lang="tr-TR" sz="2400" dirty="0"/>
          </a:p>
          <a:p>
            <a:pPr marL="0" indent="0">
              <a:buNone/>
            </a:pPr>
            <a:r>
              <a:rPr lang="tr-TR" sz="2400" dirty="0" err="1">
                <a:ea typeface="+mn-lt"/>
                <a:cs typeface="+mn-lt"/>
              </a:rPr>
              <a:t>Any</a:t>
            </a:r>
            <a:r>
              <a:rPr lang="tr-TR" sz="2400" dirty="0">
                <a:ea typeface="+mn-lt"/>
                <a:cs typeface="+mn-lt"/>
              </a:rPr>
              <a:t> </a:t>
            </a:r>
            <a:r>
              <a:rPr lang="tr-TR" sz="2400" dirty="0" err="1">
                <a:ea typeface="+mn-lt"/>
                <a:cs typeface="+mn-lt"/>
              </a:rPr>
              <a:t>input</a:t>
            </a:r>
            <a:r>
              <a:rPr lang="tr-TR" sz="2400" dirty="0">
                <a:ea typeface="+mn-lt"/>
                <a:cs typeface="+mn-lt"/>
              </a:rPr>
              <a:t> </a:t>
            </a:r>
            <a:r>
              <a:rPr lang="tr-TR" sz="2400" dirty="0" err="1">
                <a:ea typeface="+mn-lt"/>
                <a:cs typeface="+mn-lt"/>
              </a:rPr>
              <a:t>features</a:t>
            </a:r>
            <a:r>
              <a:rPr lang="tr-TR" sz="2400" dirty="0">
                <a:ea typeface="+mn-lt"/>
                <a:cs typeface="+mn-lt"/>
              </a:rPr>
              <a:t> </a:t>
            </a:r>
            <a:r>
              <a:rPr lang="tr-TR" sz="2400" dirty="0" err="1">
                <a:ea typeface="+mn-lt"/>
                <a:cs typeface="+mn-lt"/>
              </a:rPr>
              <a:t>are</a:t>
            </a:r>
            <a:r>
              <a:rPr lang="tr-TR" sz="2400" dirty="0">
                <a:ea typeface="+mn-lt"/>
                <a:cs typeface="+mn-lt"/>
              </a:rPr>
              <a:t> not </a:t>
            </a:r>
            <a:r>
              <a:rPr lang="tr-TR" sz="2400" dirty="0" err="1">
                <a:ea typeface="+mn-lt"/>
                <a:cs typeface="+mn-lt"/>
              </a:rPr>
              <a:t>redundant</a:t>
            </a:r>
            <a:r>
              <a:rPr lang="tr-TR" sz="2400" dirty="0">
                <a:ea typeface="+mn-lt"/>
                <a:cs typeface="+mn-lt"/>
              </a:rPr>
              <a:t> </a:t>
            </a:r>
            <a:r>
              <a:rPr lang="tr-TR" sz="2400" dirty="0" err="1">
                <a:ea typeface="+mn-lt"/>
                <a:cs typeface="+mn-lt"/>
              </a:rPr>
              <a:t>or</a:t>
            </a:r>
            <a:r>
              <a:rPr lang="tr-TR" sz="2400" dirty="0">
                <a:ea typeface="+mn-lt"/>
                <a:cs typeface="+mn-lt"/>
              </a:rPr>
              <a:t> </a:t>
            </a:r>
            <a:r>
              <a:rPr lang="tr-TR" sz="2400" dirty="0" err="1">
                <a:ea typeface="+mn-lt"/>
                <a:cs typeface="+mn-lt"/>
              </a:rPr>
              <a:t>highly</a:t>
            </a:r>
            <a:r>
              <a:rPr lang="tr-TR" sz="2400" dirty="0">
                <a:ea typeface="+mn-lt"/>
                <a:cs typeface="+mn-lt"/>
              </a:rPr>
              <a:t> </a:t>
            </a:r>
            <a:r>
              <a:rPr lang="tr-TR" sz="2400" dirty="0" err="1">
                <a:ea typeface="+mn-lt"/>
                <a:cs typeface="+mn-lt"/>
              </a:rPr>
              <a:t>collinear</a:t>
            </a:r>
            <a:r>
              <a:rPr lang="tr-TR" sz="2400" dirty="0">
                <a:ea typeface="+mn-lt"/>
                <a:cs typeface="+mn-lt"/>
              </a:rPr>
              <a:t>.</a:t>
            </a:r>
          </a:p>
          <a:p>
            <a:pPr marL="0" indent="0">
              <a:buNone/>
            </a:pPr>
            <a:endParaRPr lang="en-US" sz="2400" dirty="0"/>
          </a:p>
          <a:p>
            <a:endParaRPr lang="en-US" sz="3200" dirty="0"/>
          </a:p>
        </p:txBody>
      </p:sp>
      <p:pic>
        <p:nvPicPr>
          <p:cNvPr id="4" name="Content Placeholder 3" descr="ekran görüntüsü, metin, kare, dikdörtgen içeren bir resim&#10;&#10;Yapay zeka tarafından oluşturulmuş içerik yanlış olabilir.">
            <a:extLst>
              <a:ext uri="{FF2B5EF4-FFF2-40B4-BE49-F238E27FC236}">
                <a16:creationId xmlns:a16="http://schemas.microsoft.com/office/drawing/2014/main" id="{4D330176-4A46-4922-B8F4-850A23D50F5B}"/>
              </a:ext>
            </a:extLst>
          </p:cNvPr>
          <p:cNvPicPr>
            <a:picLocks noChangeAspect="1"/>
          </p:cNvPicPr>
          <p:nvPr/>
        </p:nvPicPr>
        <p:blipFill>
          <a:blip r:embed="rId2"/>
          <a:stretch>
            <a:fillRect/>
          </a:stretch>
        </p:blipFill>
        <p:spPr>
          <a:xfrm>
            <a:off x="5530526" y="625683"/>
            <a:ext cx="6151003" cy="5551280"/>
          </a:xfrm>
          <a:prstGeom prst="rect">
            <a:avLst/>
          </a:prstGeom>
        </p:spPr>
      </p:pic>
    </p:spTree>
    <p:extLst>
      <p:ext uri="{BB962C8B-B14F-4D97-AF65-F5344CB8AC3E}">
        <p14:creationId xmlns:p14="http://schemas.microsoft.com/office/powerpoint/2010/main" val="1029938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metin, çizgi, diyagram, öykü gelişim çizgisi&#10;&#10;Yapay zeka tarafından oluşturulmuş içerik yanlış olabilir.">
            <a:extLst>
              <a:ext uri="{FF2B5EF4-FFF2-40B4-BE49-F238E27FC236}">
                <a16:creationId xmlns:a16="http://schemas.microsoft.com/office/drawing/2014/main" id="{DE83FDAF-6A28-50BA-37C5-D80A9C6DCB71}"/>
              </a:ext>
            </a:extLst>
          </p:cNvPr>
          <p:cNvPicPr>
            <a:picLocks noGrp="1" noChangeAspect="1"/>
          </p:cNvPicPr>
          <p:nvPr>
            <p:ph idx="1"/>
          </p:nvPr>
        </p:nvPicPr>
        <p:blipFill>
          <a:blip r:embed="rId2"/>
          <a:srcRect t="935" r="-2" b="-2"/>
          <a:stretch>
            <a:fillRect/>
          </a:stretch>
        </p:blipFill>
        <p:spPr>
          <a:xfrm>
            <a:off x="-6588" y="10"/>
            <a:ext cx="12198588" cy="6857990"/>
          </a:xfrm>
          <a:prstGeom prst="rect">
            <a:avLst/>
          </a:prstGeom>
        </p:spPr>
      </p:pic>
    </p:spTree>
    <p:extLst>
      <p:ext uri="{BB962C8B-B14F-4D97-AF65-F5344CB8AC3E}">
        <p14:creationId xmlns:p14="http://schemas.microsoft.com/office/powerpoint/2010/main" val="3834684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6ED594-DB7C-15B0-0CAE-5B3D7168BC3B}"/>
              </a:ext>
            </a:extLst>
          </p:cNvPr>
          <p:cNvSpPr>
            <a:spLocks noGrp="1"/>
          </p:cNvSpPr>
          <p:nvPr>
            <p:ph type="title"/>
          </p:nvPr>
        </p:nvSpPr>
        <p:spPr>
          <a:xfrm>
            <a:off x="411480" y="991443"/>
            <a:ext cx="3548971" cy="1087819"/>
          </a:xfrm>
        </p:spPr>
        <p:txBody>
          <a:bodyPr anchor="b">
            <a:normAutofit/>
          </a:bodyPr>
          <a:lstStyle/>
          <a:p>
            <a:r>
              <a:rPr lang="tr-TR" sz="3400" dirty="0" err="1"/>
              <a:t>Selected</a:t>
            </a:r>
            <a:r>
              <a:rPr lang="tr-TR" sz="3400" dirty="0"/>
              <a:t> </a:t>
            </a:r>
            <a:r>
              <a:rPr lang="tr-TR" sz="3400" dirty="0" err="1"/>
              <a:t>Voltage</a:t>
            </a:r>
            <a:r>
              <a:rPr lang="tr-TR" sz="3400" dirty="0"/>
              <a:t> </a:t>
            </a:r>
            <a:r>
              <a:rPr lang="tr-TR" sz="3400" dirty="0" err="1"/>
              <a:t>Buses</a:t>
            </a:r>
            <a:r>
              <a:rPr lang="tr-TR" sz="3400" dirty="0"/>
              <a:t> Distribution</a:t>
            </a:r>
          </a:p>
        </p:txBody>
      </p:sp>
      <p:sp>
        <p:nvSpPr>
          <p:cNvPr id="13" name="Rectangle 1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511216B8-6838-5CDB-0E3B-46550426312A}"/>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r>
              <a:rPr lang="en-US" sz="1400" dirty="0"/>
              <a:t>It resembles a piecewise signal:</a:t>
            </a:r>
            <a:endParaRPr lang="tr-TR" sz="1400" dirty="0"/>
          </a:p>
          <a:p>
            <a:pPr marL="0" indent="0">
              <a:buNone/>
            </a:pPr>
            <a:r>
              <a:rPr lang="en-US" sz="1400" dirty="0"/>
              <a:t>First segment: Almost exponential or quadratic And Jump At one specific index </a:t>
            </a:r>
            <a:endParaRPr lang="tr-TR" sz="1400" dirty="0"/>
          </a:p>
          <a:p>
            <a:pPr marL="0" indent="0">
              <a:buNone/>
            </a:pPr>
            <a:r>
              <a:rPr lang="en-US" sz="1400" dirty="0"/>
              <a:t>Second segment: A slightly noisy decreasing trend</a:t>
            </a:r>
            <a:endParaRPr lang="tr-TR" sz="1400" dirty="0"/>
          </a:p>
          <a:p>
            <a:endParaRPr lang="en-US" sz="1800" dirty="0"/>
          </a:p>
        </p:txBody>
      </p:sp>
      <p:pic>
        <p:nvPicPr>
          <p:cNvPr id="4" name="Content Placeholder 3" descr="metin, diyagram, çizgi, öykü gelişim çizgisi&#10;&#10;Yapay zeka tarafından oluşturulmuş içerik yanlış olabilir.">
            <a:extLst>
              <a:ext uri="{FF2B5EF4-FFF2-40B4-BE49-F238E27FC236}">
                <a16:creationId xmlns:a16="http://schemas.microsoft.com/office/drawing/2014/main" id="{8DA52A17-46E8-FD71-E53B-CC1CE5EEA4DE}"/>
              </a:ext>
            </a:extLst>
          </p:cNvPr>
          <p:cNvPicPr>
            <a:picLocks noChangeAspect="1"/>
          </p:cNvPicPr>
          <p:nvPr/>
        </p:nvPicPr>
        <p:blipFill>
          <a:blip r:embed="rId2"/>
          <a:stretch>
            <a:fillRect/>
          </a:stretch>
        </p:blipFill>
        <p:spPr>
          <a:xfrm>
            <a:off x="5385816" y="1557752"/>
            <a:ext cx="6440424" cy="3687141"/>
          </a:xfrm>
          <a:prstGeom prst="rect">
            <a:avLst/>
          </a:prstGeom>
        </p:spPr>
      </p:pic>
    </p:spTree>
    <p:extLst>
      <p:ext uri="{BB962C8B-B14F-4D97-AF65-F5344CB8AC3E}">
        <p14:creationId xmlns:p14="http://schemas.microsoft.com/office/powerpoint/2010/main" val="58714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4">
            <a:extLst>
              <a:ext uri="{FF2B5EF4-FFF2-40B4-BE49-F238E27FC236}">
                <a16:creationId xmlns:a16="http://schemas.microsoft.com/office/drawing/2014/main" id="{16B067B1-F4E5-4FDF-813D-C9E872E80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6">
            <a:extLst>
              <a:ext uri="{FF2B5EF4-FFF2-40B4-BE49-F238E27FC236}">
                <a16:creationId xmlns:a16="http://schemas.microsoft.com/office/drawing/2014/main" id="{F56AE1B2-3354-430B-9E05-2241C72EE9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0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21" name="Content Placeholder 20" descr="metin, ekran görüntüsü, paralel, dikdörtgen içeren bir resim&#10;&#10;Yapay zeka tarafından oluşturulmuş içerik yanlış olabilir.">
            <a:extLst>
              <a:ext uri="{FF2B5EF4-FFF2-40B4-BE49-F238E27FC236}">
                <a16:creationId xmlns:a16="http://schemas.microsoft.com/office/drawing/2014/main" id="{D896088A-3150-9467-A098-E577DB9052E6}"/>
              </a:ext>
            </a:extLst>
          </p:cNvPr>
          <p:cNvPicPr>
            <a:picLocks noGrp="1" noChangeAspect="1"/>
          </p:cNvPicPr>
          <p:nvPr>
            <p:ph idx="1"/>
          </p:nvPr>
        </p:nvPicPr>
        <p:blipFill>
          <a:blip r:embed="rId2"/>
          <a:stretch>
            <a:fillRect/>
          </a:stretch>
        </p:blipFill>
        <p:spPr>
          <a:xfrm>
            <a:off x="2039971" y="-955"/>
            <a:ext cx="8107308" cy="6855884"/>
          </a:xfrm>
        </p:spPr>
      </p:pic>
    </p:spTree>
    <p:extLst>
      <p:ext uri="{BB962C8B-B14F-4D97-AF65-F5344CB8AC3E}">
        <p14:creationId xmlns:p14="http://schemas.microsoft.com/office/powerpoint/2010/main" val="541811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1F0D-8A49-DDE7-CD87-12EEBBA1EF9B}"/>
              </a:ext>
            </a:extLst>
          </p:cNvPr>
          <p:cNvSpPr>
            <a:spLocks noGrp="1"/>
          </p:cNvSpPr>
          <p:nvPr>
            <p:ph type="title"/>
          </p:nvPr>
        </p:nvSpPr>
        <p:spPr/>
        <p:txBody>
          <a:bodyPr/>
          <a:lstStyle/>
          <a:p>
            <a:r>
              <a:rPr lang="tr-TR"/>
              <a:t>Training process</a:t>
            </a:r>
          </a:p>
        </p:txBody>
      </p:sp>
      <p:pic>
        <p:nvPicPr>
          <p:cNvPr id="4" name="Content Placeholder 3" descr="metin, ekran görüntüsü, yazılım içeren bir resim&#10;&#10;Yapay zeka tarafından oluşturulmuş içerik yanlış olabilir.">
            <a:extLst>
              <a:ext uri="{FF2B5EF4-FFF2-40B4-BE49-F238E27FC236}">
                <a16:creationId xmlns:a16="http://schemas.microsoft.com/office/drawing/2014/main" id="{2318C1D5-C40E-5441-287F-D2E0EA8A0D3A}"/>
              </a:ext>
            </a:extLst>
          </p:cNvPr>
          <p:cNvPicPr>
            <a:picLocks noGrp="1" noChangeAspect="1"/>
          </p:cNvPicPr>
          <p:nvPr>
            <p:ph idx="1"/>
          </p:nvPr>
        </p:nvPicPr>
        <p:blipFill>
          <a:blip r:embed="rId2"/>
          <a:stretch>
            <a:fillRect/>
          </a:stretch>
        </p:blipFill>
        <p:spPr>
          <a:xfrm>
            <a:off x="6274870" y="1806311"/>
            <a:ext cx="5082093" cy="4114800"/>
          </a:xfrm>
        </p:spPr>
      </p:pic>
      <p:pic>
        <p:nvPicPr>
          <p:cNvPr id="5" name="Resim 4" descr="metin, ekran görüntüsü, yazılım, sayı, numara içeren bir resim&#10;&#10;Yapay zeka tarafından oluşturulmuş içerik yanlış olabilir.">
            <a:extLst>
              <a:ext uri="{FF2B5EF4-FFF2-40B4-BE49-F238E27FC236}">
                <a16:creationId xmlns:a16="http://schemas.microsoft.com/office/drawing/2014/main" id="{9D5A8B60-9A3C-C1C3-6082-B4A33237020B}"/>
              </a:ext>
            </a:extLst>
          </p:cNvPr>
          <p:cNvPicPr>
            <a:picLocks noChangeAspect="1"/>
          </p:cNvPicPr>
          <p:nvPr/>
        </p:nvPicPr>
        <p:blipFill>
          <a:blip r:embed="rId3"/>
          <a:stretch>
            <a:fillRect/>
          </a:stretch>
        </p:blipFill>
        <p:spPr>
          <a:xfrm>
            <a:off x="835554" y="1803400"/>
            <a:ext cx="5440891" cy="4097866"/>
          </a:xfrm>
          <a:prstGeom prst="rect">
            <a:avLst/>
          </a:prstGeom>
        </p:spPr>
      </p:pic>
    </p:spTree>
    <p:extLst>
      <p:ext uri="{BB962C8B-B14F-4D97-AF65-F5344CB8AC3E}">
        <p14:creationId xmlns:p14="http://schemas.microsoft.com/office/powerpoint/2010/main" val="4029437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p:cNvSpPr>
            <a:spLocks noGrp="1"/>
          </p:cNvSpPr>
          <p:nvPr>
            <p:ph type="ctrTitle"/>
          </p:nvPr>
        </p:nvSpPr>
        <p:spPr>
          <a:xfrm>
            <a:off x="582449" y="974879"/>
            <a:ext cx="4023360" cy="4347134"/>
          </a:xfrm>
        </p:spPr>
        <p:txBody>
          <a:bodyPr anchor="b">
            <a:normAutofit/>
          </a:bodyPr>
          <a:lstStyle/>
          <a:p>
            <a:pPr algn="l"/>
            <a:r>
              <a:rPr lang="tr-TR" sz="1200" dirty="0">
                <a:ea typeface="+mj-lt"/>
                <a:cs typeface="+mj-lt"/>
              </a:rPr>
              <a:t>=== NAM </a:t>
            </a:r>
            <a:r>
              <a:rPr lang="tr-TR" sz="1200" err="1">
                <a:ea typeface="+mj-lt"/>
                <a:cs typeface="+mj-lt"/>
              </a:rPr>
              <a:t>Feature</a:t>
            </a:r>
            <a:r>
              <a:rPr lang="tr-TR" sz="1200" dirty="0">
                <a:ea typeface="+mj-lt"/>
                <a:cs typeface="+mj-lt"/>
              </a:rPr>
              <a:t> </a:t>
            </a:r>
            <a:r>
              <a:rPr lang="tr-TR" sz="1200" err="1">
                <a:ea typeface="+mj-lt"/>
                <a:cs typeface="+mj-lt"/>
              </a:rPr>
              <a:t>Effect</a:t>
            </a:r>
            <a:r>
              <a:rPr lang="tr-TR" sz="1200" dirty="0">
                <a:ea typeface="+mj-lt"/>
                <a:cs typeface="+mj-lt"/>
              </a:rPr>
              <a:t> Analysis ===</a:t>
            </a:r>
          </a:p>
          <a:p>
            <a:pPr algn="l"/>
            <a:br>
              <a:rPr lang="tr-TR" sz="900" dirty="0">
                <a:ea typeface="+mj-lt"/>
                <a:cs typeface="+mj-lt"/>
              </a:rPr>
            </a:br>
            <a:endParaRPr lang="tr-TR" sz="1200"/>
          </a:p>
          <a:p>
            <a:pPr algn="l"/>
            <a:r>
              <a:rPr lang="tr-TR" sz="1200" dirty="0">
                <a:ea typeface="+mj-lt"/>
                <a:cs typeface="+mj-lt"/>
              </a:rPr>
              <a:t>Tap1:</a:t>
            </a:r>
          </a:p>
          <a:p>
            <a:pPr algn="l"/>
            <a:r>
              <a:rPr lang="tr-TR" sz="1200" dirty="0">
                <a:ea typeface="+mj-lt"/>
                <a:cs typeface="+mj-lt"/>
              </a:rPr>
              <a:t>  </a:t>
            </a:r>
            <a:r>
              <a:rPr lang="tr-TR" sz="1200" err="1">
                <a:ea typeface="+mj-lt"/>
                <a:cs typeface="+mj-lt"/>
              </a:rPr>
              <a:t>Bus</a:t>
            </a:r>
            <a:r>
              <a:rPr lang="tr-TR" sz="1200" dirty="0">
                <a:ea typeface="+mj-lt"/>
                <a:cs typeface="+mj-lt"/>
              </a:rPr>
              <a:t> 6: </a:t>
            </a:r>
            <a:r>
              <a:rPr lang="tr-TR" sz="1200" err="1">
                <a:ea typeface="+mj-lt"/>
                <a:cs typeface="+mj-lt"/>
              </a:rPr>
              <a:t>positive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0.6095)</a:t>
            </a:r>
          </a:p>
          <a:p>
            <a:pPr algn="l"/>
            <a:r>
              <a:rPr lang="tr-TR" sz="1200" dirty="0">
                <a:ea typeface="+mj-lt"/>
                <a:cs typeface="+mj-lt"/>
              </a:rPr>
              <a:t>  </a:t>
            </a:r>
            <a:r>
              <a:rPr lang="tr-TR" sz="1200" err="1">
                <a:ea typeface="+mj-lt"/>
                <a:cs typeface="+mj-lt"/>
              </a:rPr>
              <a:t>Bus</a:t>
            </a:r>
            <a:r>
              <a:rPr lang="tr-TR" sz="1200" dirty="0">
                <a:ea typeface="+mj-lt"/>
                <a:cs typeface="+mj-lt"/>
              </a:rPr>
              <a:t> 18: </a:t>
            </a:r>
            <a:r>
              <a:rPr lang="tr-TR" sz="1200" err="1">
                <a:ea typeface="+mj-lt"/>
                <a:cs typeface="+mj-lt"/>
              </a:rPr>
              <a:t>positive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0.0495)</a:t>
            </a:r>
          </a:p>
          <a:p>
            <a:pPr algn="l"/>
            <a:r>
              <a:rPr lang="tr-TR" sz="1200" dirty="0">
                <a:ea typeface="+mj-lt"/>
                <a:cs typeface="+mj-lt"/>
              </a:rPr>
              <a:t>  </a:t>
            </a:r>
            <a:r>
              <a:rPr lang="tr-TR" sz="1200" err="1">
                <a:ea typeface="+mj-lt"/>
                <a:cs typeface="+mj-lt"/>
              </a:rPr>
              <a:t>Bus</a:t>
            </a:r>
            <a:r>
              <a:rPr lang="tr-TR" sz="1200" dirty="0">
                <a:ea typeface="+mj-lt"/>
                <a:cs typeface="+mj-lt"/>
              </a:rPr>
              <a:t> 29: </a:t>
            </a:r>
            <a:r>
              <a:rPr lang="tr-TR" sz="1200" err="1">
                <a:ea typeface="+mj-lt"/>
                <a:cs typeface="+mj-lt"/>
              </a:rPr>
              <a:t>positive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0.5031)</a:t>
            </a:r>
          </a:p>
          <a:p>
            <a:pPr algn="l"/>
            <a:br>
              <a:rPr lang="tr-TR" sz="900" dirty="0"/>
            </a:br>
            <a:endParaRPr lang="tr-TR" sz="1200"/>
          </a:p>
          <a:p>
            <a:pPr algn="l"/>
            <a:r>
              <a:rPr lang="tr-TR" sz="1200" dirty="0">
                <a:ea typeface="+mj-lt"/>
                <a:cs typeface="+mj-lt"/>
              </a:rPr>
              <a:t>PV3loc:</a:t>
            </a:r>
          </a:p>
          <a:p>
            <a:pPr algn="l"/>
            <a:r>
              <a:rPr lang="tr-TR" sz="1200" dirty="0">
                <a:ea typeface="+mj-lt"/>
                <a:cs typeface="+mj-lt"/>
              </a:rPr>
              <a:t>  </a:t>
            </a:r>
            <a:r>
              <a:rPr lang="tr-TR" sz="1200" err="1">
                <a:ea typeface="+mj-lt"/>
                <a:cs typeface="+mj-lt"/>
              </a:rPr>
              <a:t>Bus</a:t>
            </a:r>
            <a:r>
              <a:rPr lang="tr-TR" sz="1200" dirty="0">
                <a:ea typeface="+mj-lt"/>
                <a:cs typeface="+mj-lt"/>
              </a:rPr>
              <a:t> 6: </a:t>
            </a:r>
            <a:r>
              <a:rPr lang="tr-TR" sz="1200" err="1">
                <a:ea typeface="+mj-lt"/>
                <a:cs typeface="+mj-lt"/>
              </a:rPr>
              <a:t>negative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-0.0483)</a:t>
            </a:r>
          </a:p>
          <a:p>
            <a:pPr algn="l"/>
            <a:r>
              <a:rPr lang="tr-TR" sz="1200" dirty="0">
                <a:ea typeface="+mj-lt"/>
                <a:cs typeface="+mj-lt"/>
              </a:rPr>
              <a:t>  </a:t>
            </a:r>
            <a:r>
              <a:rPr lang="tr-TR" sz="1200" err="1">
                <a:ea typeface="+mj-lt"/>
                <a:cs typeface="+mj-lt"/>
              </a:rPr>
              <a:t>Bus</a:t>
            </a:r>
            <a:r>
              <a:rPr lang="tr-TR" sz="1200" dirty="0">
                <a:ea typeface="+mj-lt"/>
                <a:cs typeface="+mj-lt"/>
              </a:rPr>
              <a:t> 18: minimal </a:t>
            </a:r>
            <a:r>
              <a:rPr lang="tr-TR" sz="1200" err="1">
                <a:ea typeface="+mj-lt"/>
                <a:cs typeface="+mj-lt"/>
              </a:rPr>
              <a:t>effect</a:t>
            </a:r>
            <a:r>
              <a:rPr lang="tr-TR" sz="1200" dirty="0">
                <a:ea typeface="+mj-lt"/>
                <a:cs typeface="+mj-lt"/>
              </a:rPr>
              <a:t> (</a:t>
            </a:r>
            <a:r>
              <a:rPr lang="tr-TR" sz="1200" err="1">
                <a:ea typeface="+mj-lt"/>
                <a:cs typeface="+mj-lt"/>
              </a:rPr>
              <a:t>slope</a:t>
            </a:r>
            <a:r>
              <a:rPr lang="tr-TR" sz="1200" dirty="0">
                <a:ea typeface="+mj-lt"/>
                <a:cs typeface="+mj-lt"/>
              </a:rPr>
              <a:t>: 0.0005)</a:t>
            </a:r>
          </a:p>
          <a:p>
            <a:pPr algn="l"/>
            <a:r>
              <a:rPr lang="tr-TR" sz="1200" dirty="0">
                <a:ea typeface="+mj-lt"/>
                <a:cs typeface="+mj-lt"/>
              </a:rPr>
              <a:t>  </a:t>
            </a:r>
            <a:r>
              <a:rPr lang="tr-TR" sz="1200" err="1">
                <a:ea typeface="+mj-lt"/>
                <a:cs typeface="+mj-lt"/>
              </a:rPr>
              <a:t>Bus</a:t>
            </a:r>
            <a:r>
              <a:rPr lang="tr-TR" sz="1200" dirty="0">
                <a:ea typeface="+mj-lt"/>
                <a:cs typeface="+mj-lt"/>
              </a:rPr>
              <a:t> 29: </a:t>
            </a:r>
            <a:r>
              <a:rPr lang="tr-TR" sz="1200" err="1">
                <a:ea typeface="+mj-lt"/>
                <a:cs typeface="+mj-lt"/>
              </a:rPr>
              <a:t>negative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-0.1066)</a:t>
            </a:r>
          </a:p>
          <a:p>
            <a:pPr algn="l"/>
            <a:br>
              <a:rPr lang="tr-TR" sz="900" dirty="0"/>
            </a:br>
            <a:endParaRPr lang="tr-TR" sz="1200"/>
          </a:p>
          <a:p>
            <a:pPr algn="l"/>
            <a:r>
              <a:rPr lang="tr-TR" sz="1200" dirty="0">
                <a:ea typeface="+mj-lt"/>
                <a:cs typeface="+mj-lt"/>
              </a:rPr>
              <a:t>PV3size:</a:t>
            </a:r>
          </a:p>
          <a:p>
            <a:pPr algn="l"/>
            <a:r>
              <a:rPr lang="tr-TR" sz="1200" dirty="0">
                <a:ea typeface="+mj-lt"/>
                <a:cs typeface="+mj-lt"/>
              </a:rPr>
              <a:t>  </a:t>
            </a:r>
            <a:r>
              <a:rPr lang="tr-TR" sz="1200" err="1">
                <a:ea typeface="+mj-lt"/>
                <a:cs typeface="+mj-lt"/>
              </a:rPr>
              <a:t>Bus</a:t>
            </a:r>
            <a:r>
              <a:rPr lang="tr-TR" sz="1200" dirty="0">
                <a:ea typeface="+mj-lt"/>
                <a:cs typeface="+mj-lt"/>
              </a:rPr>
              <a:t> 6: </a:t>
            </a:r>
            <a:r>
              <a:rPr lang="tr-TR" sz="1200" err="1">
                <a:ea typeface="+mj-lt"/>
                <a:cs typeface="+mj-lt"/>
              </a:rPr>
              <a:t>negative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-0.0562)</a:t>
            </a:r>
          </a:p>
          <a:p>
            <a:pPr algn="l"/>
            <a:r>
              <a:rPr lang="tr-TR" sz="1200" dirty="0">
                <a:ea typeface="+mj-lt"/>
                <a:cs typeface="+mj-lt"/>
              </a:rPr>
              <a:t>  </a:t>
            </a:r>
            <a:r>
              <a:rPr lang="tr-TR" sz="1200" err="1">
                <a:ea typeface="+mj-lt"/>
                <a:cs typeface="+mj-lt"/>
              </a:rPr>
              <a:t>Bus</a:t>
            </a:r>
            <a:r>
              <a:rPr lang="tr-TR" sz="1200" dirty="0">
                <a:ea typeface="+mj-lt"/>
                <a:cs typeface="+mj-lt"/>
              </a:rPr>
              <a:t> 18: </a:t>
            </a:r>
            <a:r>
              <a:rPr lang="tr-TR" sz="1200" err="1">
                <a:ea typeface="+mj-lt"/>
                <a:cs typeface="+mj-lt"/>
              </a:rPr>
              <a:t>positive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0.0339)</a:t>
            </a:r>
          </a:p>
          <a:p>
            <a:pPr algn="l"/>
            <a:r>
              <a:rPr lang="tr-TR" sz="1200" dirty="0">
                <a:ea typeface="+mj-lt"/>
                <a:cs typeface="+mj-lt"/>
              </a:rPr>
              <a:t>  </a:t>
            </a:r>
            <a:r>
              <a:rPr lang="tr-TR" sz="1200" err="1">
                <a:ea typeface="+mj-lt"/>
                <a:cs typeface="+mj-lt"/>
              </a:rPr>
              <a:t>Bus</a:t>
            </a:r>
            <a:r>
              <a:rPr lang="tr-TR" sz="1200" dirty="0">
                <a:ea typeface="+mj-lt"/>
                <a:cs typeface="+mj-lt"/>
              </a:rPr>
              <a:t> 29: </a:t>
            </a:r>
            <a:r>
              <a:rPr lang="tr-TR" sz="1200" err="1">
                <a:ea typeface="+mj-lt"/>
                <a:cs typeface="+mj-lt"/>
              </a:rPr>
              <a:t>negative</a:t>
            </a:r>
            <a:r>
              <a:rPr lang="tr-TR" sz="1200" dirty="0">
                <a:ea typeface="+mj-lt"/>
                <a:cs typeface="+mj-lt"/>
              </a:rPr>
              <a:t> </a:t>
            </a:r>
            <a:r>
              <a:rPr lang="tr-TR" sz="1200" err="1">
                <a:ea typeface="+mj-lt"/>
                <a:cs typeface="+mj-lt"/>
              </a:rPr>
              <a:t>relationship</a:t>
            </a:r>
            <a:r>
              <a:rPr lang="tr-TR" sz="1200" dirty="0">
                <a:ea typeface="+mj-lt"/>
                <a:cs typeface="+mj-lt"/>
              </a:rPr>
              <a:t> (</a:t>
            </a:r>
            <a:r>
              <a:rPr lang="tr-TR" sz="1200" err="1">
                <a:ea typeface="+mj-lt"/>
                <a:cs typeface="+mj-lt"/>
              </a:rPr>
              <a:t>slope</a:t>
            </a:r>
            <a:r>
              <a:rPr lang="tr-TR" sz="1200" dirty="0">
                <a:ea typeface="+mj-lt"/>
                <a:cs typeface="+mj-lt"/>
              </a:rPr>
              <a:t>: -0.0638)</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Resim 2" descr="metin, diyagram, çizgi, öykü gelişim çizgisi&#10;&#10;Yapay zeka tarafından oluşturulmuş içerik yanlış olabilir.">
            <a:extLst>
              <a:ext uri="{FF2B5EF4-FFF2-40B4-BE49-F238E27FC236}">
                <a16:creationId xmlns:a16="http://schemas.microsoft.com/office/drawing/2014/main" id="{FB226257-B4BA-98CD-C2A2-5F4D58D508FD}"/>
              </a:ext>
            </a:extLst>
          </p:cNvPr>
          <p:cNvPicPr>
            <a:picLocks noChangeAspect="1"/>
          </p:cNvPicPr>
          <p:nvPr/>
        </p:nvPicPr>
        <p:blipFill>
          <a:blip r:embed="rId2"/>
          <a:stretch>
            <a:fillRect/>
          </a:stretch>
        </p:blipFill>
        <p:spPr>
          <a:xfrm>
            <a:off x="3612105" y="0"/>
            <a:ext cx="8581145" cy="6858000"/>
          </a:xfrm>
          <a:prstGeom prst="rect">
            <a:avLst/>
          </a:prstGeom>
        </p:spPr>
      </p:pic>
    </p:spTree>
    <p:extLst>
      <p:ext uri="{BB962C8B-B14F-4D97-AF65-F5344CB8AC3E}">
        <p14:creationId xmlns:p14="http://schemas.microsoft.com/office/powerpoint/2010/main" val="1674425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21">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38525F-9FF3-7F15-02A5-703C168202E2}"/>
              </a:ext>
            </a:extLst>
          </p:cNvPr>
          <p:cNvSpPr>
            <a:spLocks noGrp="1"/>
          </p:cNvSpPr>
          <p:nvPr>
            <p:ph type="title"/>
          </p:nvPr>
        </p:nvSpPr>
        <p:spPr>
          <a:xfrm>
            <a:off x="419256" y="159464"/>
            <a:ext cx="4443154" cy="1087819"/>
          </a:xfrm>
        </p:spPr>
        <p:txBody>
          <a:bodyPr anchor="b">
            <a:normAutofit/>
          </a:bodyPr>
          <a:lstStyle/>
          <a:p>
            <a:r>
              <a:rPr lang="tr-TR" sz="3400"/>
              <a:t>NAM </a:t>
            </a:r>
          </a:p>
        </p:txBody>
      </p:sp>
      <p:sp>
        <p:nvSpPr>
          <p:cNvPr id="20" name="Rectangle 23">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5">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Content Placeholder 18">
            <a:extLst>
              <a:ext uri="{FF2B5EF4-FFF2-40B4-BE49-F238E27FC236}">
                <a16:creationId xmlns:a16="http://schemas.microsoft.com/office/drawing/2014/main" id="{C025E970-9B36-760E-F857-CBD52B07C84E}"/>
              </a:ext>
            </a:extLst>
          </p:cNvPr>
          <p:cNvSpPr>
            <a:spLocks noGrp="1"/>
          </p:cNvSpPr>
          <p:nvPr>
            <p:ph idx="1"/>
          </p:nvPr>
        </p:nvSpPr>
        <p:spPr>
          <a:xfrm>
            <a:off x="411480" y="2684095"/>
            <a:ext cx="4443154" cy="3492868"/>
          </a:xfrm>
        </p:spPr>
        <p:txBody>
          <a:bodyPr vert="horz" lIns="91440" tIns="45720" rIns="91440" bIns="45720" rtlCol="0" anchor="t">
            <a:normAutofit/>
          </a:bodyPr>
          <a:lstStyle/>
          <a:p>
            <a:pPr marL="0" indent="0">
              <a:buNone/>
            </a:pPr>
            <a:endParaRPr lang="en-US" sz="1400" dirty="0"/>
          </a:p>
        </p:txBody>
      </p:sp>
      <p:pic>
        <p:nvPicPr>
          <p:cNvPr id="5" name="Content Placeholder 4" descr="metin, ekran görüntüsü, diyagram, öykü gelişim çizgisi&#10;&#10;Yapay zeka tarafından oluşturulmuş içerik yanlış olabilir.">
            <a:extLst>
              <a:ext uri="{FF2B5EF4-FFF2-40B4-BE49-F238E27FC236}">
                <a16:creationId xmlns:a16="http://schemas.microsoft.com/office/drawing/2014/main" id="{6189B506-CD85-4CC1-2FD5-79568E410591}"/>
              </a:ext>
            </a:extLst>
          </p:cNvPr>
          <p:cNvPicPr>
            <a:picLocks noChangeAspect="1"/>
          </p:cNvPicPr>
          <p:nvPr/>
        </p:nvPicPr>
        <p:blipFill>
          <a:blip r:embed="rId2"/>
          <a:stretch>
            <a:fillRect/>
          </a:stretch>
        </p:blipFill>
        <p:spPr>
          <a:xfrm>
            <a:off x="409490" y="1783992"/>
            <a:ext cx="9185179" cy="4533172"/>
          </a:xfrm>
          <a:prstGeom prst="rect">
            <a:avLst/>
          </a:prstGeom>
        </p:spPr>
      </p:pic>
    </p:spTree>
    <p:extLst>
      <p:ext uri="{BB962C8B-B14F-4D97-AF65-F5344CB8AC3E}">
        <p14:creationId xmlns:p14="http://schemas.microsoft.com/office/powerpoint/2010/main" val="3468949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A259A-BA93-D0BB-81EC-653F1980348E}"/>
              </a:ext>
            </a:extLst>
          </p:cNvPr>
          <p:cNvSpPr>
            <a:spLocks noGrp="1"/>
          </p:cNvSpPr>
          <p:nvPr>
            <p:ph type="title"/>
          </p:nvPr>
        </p:nvSpPr>
        <p:spPr>
          <a:xfrm>
            <a:off x="876693" y="-308303"/>
            <a:ext cx="3455821" cy="1616203"/>
          </a:xfrm>
        </p:spPr>
        <p:txBody>
          <a:bodyPr anchor="b">
            <a:normAutofit/>
          </a:bodyPr>
          <a:lstStyle/>
          <a:p>
            <a:r>
              <a:rPr lang="tr-TR" sz="3200" err="1"/>
              <a:t>Random</a:t>
            </a:r>
            <a:r>
              <a:rPr lang="tr-TR" sz="3200"/>
              <a:t> </a:t>
            </a:r>
            <a:r>
              <a:rPr lang="tr-TR" sz="3200" err="1"/>
              <a:t>Forest</a:t>
            </a:r>
            <a:r>
              <a:rPr lang="tr-TR" sz="3200"/>
              <a:t> </a:t>
            </a:r>
          </a:p>
        </p:txBody>
      </p:sp>
      <p:sp>
        <p:nvSpPr>
          <p:cNvPr id="6" name="Content Placeholder 7">
            <a:extLst>
              <a:ext uri="{FF2B5EF4-FFF2-40B4-BE49-F238E27FC236}">
                <a16:creationId xmlns:a16="http://schemas.microsoft.com/office/drawing/2014/main" id="{7799DDC6-355E-8139-355E-7EC19915E7A9}"/>
              </a:ext>
            </a:extLst>
          </p:cNvPr>
          <p:cNvSpPr>
            <a:spLocks noGrp="1"/>
          </p:cNvSpPr>
          <p:nvPr>
            <p:ph idx="1"/>
          </p:nvPr>
        </p:nvSpPr>
        <p:spPr>
          <a:xfrm>
            <a:off x="876693" y="2533476"/>
            <a:ext cx="3455821" cy="3447832"/>
          </a:xfrm>
        </p:spPr>
        <p:txBody>
          <a:bodyPr anchor="t">
            <a:normAutofit/>
          </a:bodyPr>
          <a:lstStyle/>
          <a:p>
            <a:pPr>
              <a:buNone/>
            </a:pPr>
            <a:endParaRPr lang="en-US" sz="2000"/>
          </a:p>
          <a:p>
            <a:pPr>
              <a:buNone/>
            </a:pPr>
            <a:endParaRPr lang="en-US" sz="2000"/>
          </a:p>
        </p:txBody>
      </p:sp>
      <p:pic>
        <p:nvPicPr>
          <p:cNvPr id="3" name="Resim 2" descr="metin, ekran görüntüsü, diyagram, çizgi içeren bir resim&#10;&#10;Yapay zeka tarafından oluşturulmuş içerik yanlış olabilir.">
            <a:extLst>
              <a:ext uri="{FF2B5EF4-FFF2-40B4-BE49-F238E27FC236}">
                <a16:creationId xmlns:a16="http://schemas.microsoft.com/office/drawing/2014/main" id="{2962B8B4-0E3E-F604-267E-F185AD2DAC63}"/>
              </a:ext>
            </a:extLst>
          </p:cNvPr>
          <p:cNvPicPr>
            <a:picLocks noChangeAspect="1"/>
          </p:cNvPicPr>
          <p:nvPr/>
        </p:nvPicPr>
        <p:blipFill>
          <a:blip r:embed="rId2"/>
          <a:stretch>
            <a:fillRect/>
          </a:stretch>
        </p:blipFill>
        <p:spPr>
          <a:xfrm>
            <a:off x="1900794" y="1231442"/>
            <a:ext cx="8387652" cy="4544384"/>
          </a:xfrm>
          <a:prstGeom prst="rect">
            <a:avLst/>
          </a:prstGeom>
        </p:spPr>
      </p:pic>
      <p:grpSp>
        <p:nvGrpSpPr>
          <p:cNvPr id="14" name="Group 16">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8" name="Rectangle 17">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98839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5F5CB-1D35-4E8E-2496-49424E682DF7}"/>
              </a:ext>
            </a:extLst>
          </p:cNvPr>
          <p:cNvSpPr>
            <a:spLocks noGrp="1"/>
          </p:cNvSpPr>
          <p:nvPr>
            <p:ph type="title"/>
          </p:nvPr>
        </p:nvSpPr>
        <p:spPr>
          <a:xfrm>
            <a:off x="1066737" y="418782"/>
            <a:ext cx="3410712" cy="1106424"/>
          </a:xfrm>
        </p:spPr>
        <p:txBody>
          <a:bodyPr>
            <a:normAutofit/>
          </a:bodyPr>
          <a:lstStyle/>
          <a:p>
            <a:r>
              <a:rPr lang="tr-TR" sz="2800" dirty="0"/>
              <a:t>XGBOOST</a:t>
            </a:r>
          </a:p>
        </p:txBody>
      </p:sp>
      <p:sp>
        <p:nvSpPr>
          <p:cNvPr id="22" name="Rectangle 21">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Content Placeholder 7">
            <a:extLst>
              <a:ext uri="{FF2B5EF4-FFF2-40B4-BE49-F238E27FC236}">
                <a16:creationId xmlns:a16="http://schemas.microsoft.com/office/drawing/2014/main" id="{FBC8DF7C-D740-83A8-1352-5AC24EEFE8A6}"/>
              </a:ext>
            </a:extLst>
          </p:cNvPr>
          <p:cNvSpPr>
            <a:spLocks noGrp="1"/>
          </p:cNvSpPr>
          <p:nvPr>
            <p:ph idx="1"/>
          </p:nvPr>
        </p:nvSpPr>
        <p:spPr>
          <a:xfrm>
            <a:off x="841248" y="2252870"/>
            <a:ext cx="3412219" cy="3560251"/>
          </a:xfrm>
        </p:spPr>
        <p:txBody>
          <a:bodyPr vert="horz" lIns="91440" tIns="45720" rIns="91440" bIns="45720" rtlCol="0" anchor="t">
            <a:normAutofit/>
          </a:bodyPr>
          <a:lstStyle/>
          <a:p>
            <a:pPr>
              <a:buNone/>
            </a:pPr>
            <a:endParaRPr lang="en-US" sz="1700"/>
          </a:p>
          <a:p>
            <a:pPr>
              <a:buNone/>
            </a:pPr>
            <a:endParaRPr lang="en-US" sz="1700"/>
          </a:p>
        </p:txBody>
      </p:sp>
      <p:pic>
        <p:nvPicPr>
          <p:cNvPr id="3" name="Resim 2" descr="metin, ekran görüntüsü, diyagram, çizgi içeren bir resim&#10;&#10;Yapay zeka tarafından oluşturulmuş içerik yanlış olabilir.">
            <a:extLst>
              <a:ext uri="{FF2B5EF4-FFF2-40B4-BE49-F238E27FC236}">
                <a16:creationId xmlns:a16="http://schemas.microsoft.com/office/drawing/2014/main" id="{675704F5-CBB6-AC08-BBE6-D1D215BA3AB2}"/>
              </a:ext>
            </a:extLst>
          </p:cNvPr>
          <p:cNvPicPr>
            <a:picLocks noChangeAspect="1"/>
          </p:cNvPicPr>
          <p:nvPr/>
        </p:nvPicPr>
        <p:blipFill>
          <a:blip r:embed="rId2"/>
          <a:stretch>
            <a:fillRect/>
          </a:stretch>
        </p:blipFill>
        <p:spPr>
          <a:xfrm>
            <a:off x="1683866" y="1818454"/>
            <a:ext cx="8818422" cy="4426793"/>
          </a:xfrm>
          <a:prstGeom prst="rect">
            <a:avLst/>
          </a:prstGeom>
        </p:spPr>
      </p:pic>
    </p:spTree>
    <p:extLst>
      <p:ext uri="{BB962C8B-B14F-4D97-AF65-F5344CB8AC3E}">
        <p14:creationId xmlns:p14="http://schemas.microsoft.com/office/powerpoint/2010/main" val="1677103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C0FE62-3893-04B3-BD53-1A1FD0A0E4D2}"/>
              </a:ext>
            </a:extLst>
          </p:cNvPr>
          <p:cNvSpPr>
            <a:spLocks noGrp="1"/>
          </p:cNvSpPr>
          <p:nvPr>
            <p:ph type="title"/>
          </p:nvPr>
        </p:nvSpPr>
        <p:spPr>
          <a:xfrm>
            <a:off x="1046746" y="586822"/>
            <a:ext cx="3560252" cy="1645920"/>
          </a:xfrm>
        </p:spPr>
        <p:txBody>
          <a:bodyPr>
            <a:normAutofit/>
          </a:bodyPr>
          <a:lstStyle/>
          <a:p>
            <a:endParaRPr lang="tr-TR" sz="3200"/>
          </a:p>
        </p:txBody>
      </p:sp>
      <p:sp>
        <p:nvSpPr>
          <p:cNvPr id="27" name="Rectangle 26">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Content Placeholder 8">
            <a:extLst>
              <a:ext uri="{FF2B5EF4-FFF2-40B4-BE49-F238E27FC236}">
                <a16:creationId xmlns:a16="http://schemas.microsoft.com/office/drawing/2014/main" id="{9033C272-A112-E6F1-B05D-9194EA120637}"/>
              </a:ext>
            </a:extLst>
          </p:cNvPr>
          <p:cNvSpPr>
            <a:spLocks noGrp="1"/>
          </p:cNvSpPr>
          <p:nvPr>
            <p:ph idx="1"/>
          </p:nvPr>
        </p:nvSpPr>
        <p:spPr>
          <a:xfrm>
            <a:off x="5351164" y="586822"/>
            <a:ext cx="6002636" cy="1645920"/>
          </a:xfrm>
        </p:spPr>
        <p:txBody>
          <a:bodyPr anchor="ctr">
            <a:normAutofit/>
          </a:bodyPr>
          <a:lstStyle/>
          <a:p>
            <a:pPr>
              <a:buNone/>
            </a:pPr>
            <a:r>
              <a:rPr lang="en-US" sz="2400" dirty="0">
                <a:ea typeface="+mn-lt"/>
                <a:cs typeface="+mn-lt"/>
              </a:rPr>
              <a:t>=== Model Performance Comparison ===</a:t>
            </a:r>
            <a:endParaRPr lang="tr-TR" sz="2400" dirty="0"/>
          </a:p>
          <a:p>
            <a:pPr>
              <a:buNone/>
            </a:pPr>
            <a:endParaRPr lang="en-US" sz="1500" dirty="0"/>
          </a:p>
        </p:txBody>
      </p:sp>
      <p:pic>
        <p:nvPicPr>
          <p:cNvPr id="3" name="Resim 2" descr="metin, ekran görüntüsü, diyagram, çizgi içeren bir resim&#10;&#10;Yapay zeka tarafından oluşturulmuş içerik yanlış olabilir.">
            <a:extLst>
              <a:ext uri="{FF2B5EF4-FFF2-40B4-BE49-F238E27FC236}">
                <a16:creationId xmlns:a16="http://schemas.microsoft.com/office/drawing/2014/main" id="{3E97FB76-6F6D-A713-DE9E-E0E51D44F08D}"/>
              </a:ext>
            </a:extLst>
          </p:cNvPr>
          <p:cNvPicPr>
            <a:picLocks noChangeAspect="1"/>
          </p:cNvPicPr>
          <p:nvPr/>
        </p:nvPicPr>
        <p:blipFill>
          <a:blip r:embed="rId2"/>
          <a:stretch>
            <a:fillRect/>
          </a:stretch>
        </p:blipFill>
        <p:spPr>
          <a:xfrm>
            <a:off x="861612" y="2734056"/>
            <a:ext cx="10557168" cy="3483864"/>
          </a:xfrm>
          <a:prstGeom prst="rect">
            <a:avLst/>
          </a:prstGeom>
        </p:spPr>
      </p:pic>
    </p:spTree>
    <p:extLst>
      <p:ext uri="{BB962C8B-B14F-4D97-AF65-F5344CB8AC3E}">
        <p14:creationId xmlns:p14="http://schemas.microsoft.com/office/powerpoint/2010/main" val="2915540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700DB2-90E2-D3D6-9560-DBA08EAC904C}"/>
              </a:ext>
            </a:extLst>
          </p:cNvPr>
          <p:cNvSpPr>
            <a:spLocks noGrp="1"/>
          </p:cNvSpPr>
          <p:nvPr>
            <p:ph type="title"/>
          </p:nvPr>
        </p:nvSpPr>
        <p:spPr>
          <a:xfrm>
            <a:off x="793662" y="386930"/>
            <a:ext cx="10066122" cy="1298448"/>
          </a:xfrm>
        </p:spPr>
        <p:txBody>
          <a:bodyPr anchor="b">
            <a:normAutofit/>
          </a:bodyPr>
          <a:lstStyle/>
          <a:p>
            <a:r>
              <a:rPr lang="tr-TR" sz="4800"/>
              <a:t>Conclusion</a:t>
            </a:r>
          </a:p>
        </p:txBody>
      </p:sp>
      <p:sp>
        <p:nvSpPr>
          <p:cNvPr id="15"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091F4EB-8FAF-32FF-BD8C-5BBD5CFD311C}"/>
              </a:ext>
            </a:extLst>
          </p:cNvPr>
          <p:cNvSpPr>
            <a:spLocks noGrp="1"/>
          </p:cNvSpPr>
          <p:nvPr>
            <p:ph idx="1"/>
          </p:nvPr>
        </p:nvSpPr>
        <p:spPr>
          <a:xfrm>
            <a:off x="793661" y="2599509"/>
            <a:ext cx="4530898" cy="3639450"/>
          </a:xfrm>
        </p:spPr>
        <p:txBody>
          <a:bodyPr vert="horz" lIns="91440" tIns="45720" rIns="91440" bIns="45720" rtlCol="0" anchor="ctr">
            <a:normAutofit/>
          </a:bodyPr>
          <a:lstStyle/>
          <a:p>
            <a:pPr>
              <a:buNone/>
            </a:pPr>
            <a:r>
              <a:rPr lang="tr-TR" sz="2000">
                <a:ea typeface="+mn-lt"/>
                <a:cs typeface="+mn-lt"/>
              </a:rPr>
              <a:t>• Which method provided more actionable insights for your task?</a:t>
            </a:r>
            <a:endParaRPr lang="tr-TR" sz="2000"/>
          </a:p>
          <a:p>
            <a:pPr>
              <a:buNone/>
            </a:pPr>
            <a:endParaRPr lang="tr-TR" sz="2000">
              <a:ea typeface="+mn-lt"/>
              <a:cs typeface="+mn-lt"/>
            </a:endParaRPr>
          </a:p>
          <a:p>
            <a:pPr>
              <a:buNone/>
            </a:pPr>
            <a:endParaRPr lang="tr-TR" sz="2000"/>
          </a:p>
          <a:p>
            <a:pPr>
              <a:buNone/>
            </a:pPr>
            <a:endParaRPr lang="tr-TR" sz="2000">
              <a:ea typeface="+mn-lt"/>
              <a:cs typeface="+mn-lt"/>
            </a:endParaRPr>
          </a:p>
          <a:p>
            <a:pPr marL="0" indent="0">
              <a:buNone/>
            </a:pPr>
            <a:endParaRPr lang="tr-TR" sz="2000"/>
          </a:p>
        </p:txBody>
      </p:sp>
      <p:pic>
        <p:nvPicPr>
          <p:cNvPr id="7" name="Resim 6" descr="metin, ekran görüntüsü, diyagram, çizgi içeren bir resim">
            <a:extLst>
              <a:ext uri="{FF2B5EF4-FFF2-40B4-BE49-F238E27FC236}">
                <a16:creationId xmlns:a16="http://schemas.microsoft.com/office/drawing/2014/main" id="{80F70A54-138F-96BC-D889-1EBD76501550}"/>
              </a:ext>
            </a:extLst>
          </p:cNvPr>
          <p:cNvPicPr>
            <a:picLocks noChangeAspect="1"/>
          </p:cNvPicPr>
          <p:nvPr/>
        </p:nvPicPr>
        <p:blipFill>
          <a:blip r:embed="rId2"/>
          <a:srcRect l="-222" r="66499" b="862"/>
          <a:stretch>
            <a:fillRect/>
          </a:stretch>
        </p:blipFill>
        <p:spPr>
          <a:xfrm>
            <a:off x="6572359" y="2484255"/>
            <a:ext cx="3828623" cy="3714244"/>
          </a:xfrm>
          <a:prstGeom prst="rect">
            <a:avLst/>
          </a:prstGeom>
        </p:spPr>
      </p:pic>
      <p:sp>
        <p:nvSpPr>
          <p:cNvPr id="19"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6229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ABDF8D-6690-DFC6-A36B-66B3F3727939}"/>
              </a:ext>
            </a:extLst>
          </p:cNvPr>
          <p:cNvSpPr>
            <a:spLocks noGrp="1"/>
          </p:cNvSpPr>
          <p:nvPr>
            <p:ph type="title"/>
          </p:nvPr>
        </p:nvSpPr>
        <p:spPr>
          <a:xfrm>
            <a:off x="630936" y="457200"/>
            <a:ext cx="4343400" cy="1929384"/>
          </a:xfrm>
        </p:spPr>
        <p:txBody>
          <a:bodyPr anchor="ctr">
            <a:normAutofit/>
          </a:bodyPr>
          <a:lstStyle/>
          <a:p>
            <a:r>
              <a:rPr lang="tr-TR" sz="3000">
                <a:latin typeface="Aptos"/>
              </a:rPr>
              <a:t>• Was SHAP able to recover similar patterns to the NAM plots?</a:t>
            </a:r>
            <a:endParaRPr lang="tr-TR" sz="3000"/>
          </a:p>
        </p:txBody>
      </p:sp>
      <p:sp>
        <p:nvSpPr>
          <p:cNvPr id="1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7A34947-9AF4-117B-463C-A40B2DA58400}"/>
              </a:ext>
            </a:extLst>
          </p:cNvPr>
          <p:cNvSpPr>
            <a:spLocks noGrp="1"/>
          </p:cNvSpPr>
          <p:nvPr>
            <p:ph idx="1"/>
          </p:nvPr>
        </p:nvSpPr>
        <p:spPr>
          <a:xfrm>
            <a:off x="5541263" y="457200"/>
            <a:ext cx="6007608" cy="1929384"/>
          </a:xfrm>
        </p:spPr>
        <p:txBody>
          <a:bodyPr anchor="ctr">
            <a:normAutofit/>
          </a:bodyPr>
          <a:lstStyle/>
          <a:p>
            <a:endParaRPr lang="tr-TR" sz="2200"/>
          </a:p>
        </p:txBody>
      </p:sp>
      <p:pic>
        <p:nvPicPr>
          <p:cNvPr id="5" name="Resim 4" descr="metin, diyagram, çizgi, öykü gelişim çizgisi&#10;&#10;Yapay zeka tarafından oluşturulmuş içerik yanlış olabilir.">
            <a:extLst>
              <a:ext uri="{FF2B5EF4-FFF2-40B4-BE49-F238E27FC236}">
                <a16:creationId xmlns:a16="http://schemas.microsoft.com/office/drawing/2014/main" id="{0B0C2DB6-3B8A-76EE-7FE8-60FF672DAD81}"/>
              </a:ext>
            </a:extLst>
          </p:cNvPr>
          <p:cNvPicPr>
            <a:picLocks noChangeAspect="1"/>
          </p:cNvPicPr>
          <p:nvPr/>
        </p:nvPicPr>
        <p:blipFill>
          <a:blip r:embed="rId2"/>
          <a:stretch>
            <a:fillRect/>
          </a:stretch>
        </p:blipFill>
        <p:spPr>
          <a:xfrm>
            <a:off x="901065" y="2569464"/>
            <a:ext cx="4598670" cy="3678936"/>
          </a:xfrm>
          <a:prstGeom prst="rect">
            <a:avLst/>
          </a:prstGeom>
        </p:spPr>
      </p:pic>
      <p:pic>
        <p:nvPicPr>
          <p:cNvPr id="7" name="Resim 6" descr="metin, ekran görüntüsü, diyagram, çizgi içeren bir resim&#10;&#10;Yapay zeka tarafından oluşturulmuş içerik yanlış olabilir.">
            <a:extLst>
              <a:ext uri="{FF2B5EF4-FFF2-40B4-BE49-F238E27FC236}">
                <a16:creationId xmlns:a16="http://schemas.microsoft.com/office/drawing/2014/main" id="{6793C80C-DA39-C349-634F-E56F05845398}"/>
              </a:ext>
            </a:extLst>
          </p:cNvPr>
          <p:cNvPicPr>
            <a:picLocks noChangeAspect="1"/>
          </p:cNvPicPr>
          <p:nvPr/>
        </p:nvPicPr>
        <p:blipFill>
          <a:blip r:embed="rId3"/>
          <a:stretch>
            <a:fillRect/>
          </a:stretch>
        </p:blipFill>
        <p:spPr>
          <a:xfrm>
            <a:off x="6254496" y="2590785"/>
            <a:ext cx="5468112" cy="3636294"/>
          </a:xfrm>
          <a:prstGeom prst="rect">
            <a:avLst/>
          </a:prstGeom>
        </p:spPr>
      </p:pic>
    </p:spTree>
    <p:extLst>
      <p:ext uri="{BB962C8B-B14F-4D97-AF65-F5344CB8AC3E}">
        <p14:creationId xmlns:p14="http://schemas.microsoft.com/office/powerpoint/2010/main" val="7543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68B8D-C8D7-7751-D469-873D12C6FED1}"/>
              </a:ext>
            </a:extLst>
          </p:cNvPr>
          <p:cNvSpPr>
            <a:spLocks noGrp="1"/>
          </p:cNvSpPr>
          <p:nvPr>
            <p:ph type="title"/>
          </p:nvPr>
        </p:nvSpPr>
        <p:spPr>
          <a:xfrm>
            <a:off x="7910285" y="741391"/>
            <a:ext cx="3443514" cy="1616203"/>
          </a:xfrm>
        </p:spPr>
        <p:txBody>
          <a:bodyPr anchor="b">
            <a:normAutofit/>
          </a:bodyPr>
          <a:lstStyle/>
          <a:p>
            <a:r>
              <a:rPr lang="tr-TR" sz="2500">
                <a:latin typeface="Aptos"/>
              </a:rPr>
              <a:t>• Are there any discrepancies between the importance values or direction of effect?</a:t>
            </a:r>
            <a:endParaRPr lang="tr-TR" sz="2500"/>
          </a:p>
        </p:txBody>
      </p:sp>
      <p:pic>
        <p:nvPicPr>
          <p:cNvPr id="5" name="Content Placeholder 4" descr="metin, ekran görüntüsü, diyagram, öykü gelişim çizgisi&#10;&#10;Yapay zeka tarafından oluşturulmuş içerik yanlış olabilir.">
            <a:extLst>
              <a:ext uri="{FF2B5EF4-FFF2-40B4-BE49-F238E27FC236}">
                <a16:creationId xmlns:a16="http://schemas.microsoft.com/office/drawing/2014/main" id="{705C50A0-8173-2F55-DEF2-27C03D2955AF}"/>
              </a:ext>
            </a:extLst>
          </p:cNvPr>
          <p:cNvPicPr>
            <a:picLocks noChangeAspect="1"/>
          </p:cNvPicPr>
          <p:nvPr/>
        </p:nvPicPr>
        <p:blipFill>
          <a:blip r:embed="rId2"/>
          <a:stretch>
            <a:fillRect/>
          </a:stretch>
        </p:blipFill>
        <p:spPr>
          <a:xfrm>
            <a:off x="787114" y="1797416"/>
            <a:ext cx="6449549" cy="3192526"/>
          </a:xfrm>
          <a:prstGeom prst="rect">
            <a:avLst/>
          </a:prstGeom>
        </p:spPr>
      </p:pic>
      <p:sp>
        <p:nvSpPr>
          <p:cNvPr id="3" name="Content Placeholder 2">
            <a:extLst>
              <a:ext uri="{FF2B5EF4-FFF2-40B4-BE49-F238E27FC236}">
                <a16:creationId xmlns:a16="http://schemas.microsoft.com/office/drawing/2014/main" id="{EBC57F66-A245-47C8-8ED5-310D8354F5C1}"/>
              </a:ext>
            </a:extLst>
          </p:cNvPr>
          <p:cNvSpPr>
            <a:spLocks noGrp="1"/>
          </p:cNvSpPr>
          <p:nvPr>
            <p:ph idx="1"/>
          </p:nvPr>
        </p:nvSpPr>
        <p:spPr>
          <a:xfrm>
            <a:off x="7910285" y="2533476"/>
            <a:ext cx="3443514" cy="3447832"/>
          </a:xfrm>
        </p:spPr>
        <p:txBody>
          <a:bodyPr anchor="t">
            <a:normAutofit/>
          </a:bodyPr>
          <a:lstStyle/>
          <a:p>
            <a:endParaRPr lang="tr-TR" sz="2000"/>
          </a:p>
        </p:txBody>
      </p:sp>
      <p:grpSp>
        <p:nvGrpSpPr>
          <p:cNvPr id="10" name="Group 9">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0765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C0407B-0BC2-A3A1-995A-3316EF057831}"/>
              </a:ext>
            </a:extLst>
          </p:cNvPr>
          <p:cNvSpPr>
            <a:spLocks noGrp="1"/>
          </p:cNvSpPr>
          <p:nvPr>
            <p:ph type="title"/>
          </p:nvPr>
        </p:nvSpPr>
        <p:spPr>
          <a:xfrm>
            <a:off x="411480" y="991443"/>
            <a:ext cx="4443154" cy="1087819"/>
          </a:xfrm>
        </p:spPr>
        <p:txBody>
          <a:bodyPr anchor="b">
            <a:normAutofit/>
          </a:bodyPr>
          <a:lstStyle/>
          <a:p>
            <a:r>
              <a:rPr lang="en-US" sz="3400" baseline="30000">
                <a:latin typeface="Aptos"/>
              </a:rPr>
              <a:t>General Evaluation</a:t>
            </a:r>
            <a:endParaRPr lang="tr-TR" sz="3400"/>
          </a:p>
        </p:txBody>
      </p:sp>
      <p:sp>
        <p:nvSpPr>
          <p:cNvPr id="11" name="Rectangle 1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E595118-AE95-CE7E-B4E3-45722FB27D98}"/>
              </a:ext>
            </a:extLst>
          </p:cNvPr>
          <p:cNvSpPr>
            <a:spLocks noGrp="1"/>
          </p:cNvSpPr>
          <p:nvPr>
            <p:ph idx="1"/>
          </p:nvPr>
        </p:nvSpPr>
        <p:spPr>
          <a:xfrm>
            <a:off x="411480" y="2684095"/>
            <a:ext cx="4443154" cy="3492868"/>
          </a:xfrm>
        </p:spPr>
        <p:txBody>
          <a:bodyPr vert="horz" lIns="91440" tIns="45720" rIns="91440" bIns="45720" rtlCol="0" anchor="t">
            <a:normAutofit/>
          </a:bodyPr>
          <a:lstStyle/>
          <a:p>
            <a:r>
              <a:rPr lang="en-US" sz="1800" baseline="30000" dirty="0"/>
              <a:t>Thanks to the NAM model, a “white box” model that is easy for humans to understand has been obtained.</a:t>
            </a:r>
            <a:endParaRPr lang="tr-TR" sz="1800" dirty="0"/>
          </a:p>
          <a:p>
            <a:r>
              <a:rPr lang="en-US" sz="1800" baseline="30000" dirty="0"/>
              <a:t>“If I increase PV generation by 20%, what will be happen to the voltage on a specific node?”    </a:t>
            </a:r>
          </a:p>
          <a:p>
            <a:r>
              <a:rPr lang="en-US" sz="1800" baseline="30000" dirty="0"/>
              <a:t>NAM model is suitable for use as a decision support system in critical infrastructures such as distribution networks, as it provides output that human experts can easily interpret.</a:t>
            </a:r>
          </a:p>
          <a:p>
            <a:r>
              <a:rPr lang="en-US" sz="1800" baseline="30000" dirty="0">
                <a:ea typeface="+mn-lt"/>
                <a:cs typeface="+mn-lt"/>
              </a:rPr>
              <a:t>Other approaches may provide more detailed explanations for this case.</a:t>
            </a:r>
            <a:endParaRPr lang="en-US" sz="1800" baseline="30000" dirty="0"/>
          </a:p>
          <a:p>
            <a:endParaRPr lang="en-US" sz="1800" baseline="30000"/>
          </a:p>
          <a:p>
            <a:endParaRPr lang="en-US" sz="1800" baseline="30000"/>
          </a:p>
        </p:txBody>
      </p:sp>
      <p:pic>
        <p:nvPicPr>
          <p:cNvPr id="4" name="Resim 3" descr="metin, ekran görüntüsü, diyagram, daire içeren bir resim&#10;&#10;Yapay zeka tarafından oluşturulmuş içerik yanlış olabilir.">
            <a:extLst>
              <a:ext uri="{FF2B5EF4-FFF2-40B4-BE49-F238E27FC236}">
                <a16:creationId xmlns:a16="http://schemas.microsoft.com/office/drawing/2014/main" id="{2EB3079D-AFBA-4221-5D68-3A9C34EE5618}"/>
              </a:ext>
            </a:extLst>
          </p:cNvPr>
          <p:cNvPicPr>
            <a:picLocks noChangeAspect="1"/>
          </p:cNvPicPr>
          <p:nvPr/>
        </p:nvPicPr>
        <p:blipFill>
          <a:blip r:embed="rId2"/>
          <a:stretch>
            <a:fillRect/>
          </a:stretch>
        </p:blipFill>
        <p:spPr>
          <a:xfrm>
            <a:off x="5385816" y="1514658"/>
            <a:ext cx="6440424" cy="3773330"/>
          </a:xfrm>
          <a:prstGeom prst="rect">
            <a:avLst/>
          </a:prstGeom>
        </p:spPr>
      </p:pic>
    </p:spTree>
    <p:extLst>
      <p:ext uri="{BB962C8B-B14F-4D97-AF65-F5344CB8AC3E}">
        <p14:creationId xmlns:p14="http://schemas.microsoft.com/office/powerpoint/2010/main" val="3695345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A062B1-D7F6-CF32-BB5B-CE18574E1033}"/>
              </a:ext>
            </a:extLst>
          </p:cNvPr>
          <p:cNvSpPr>
            <a:spLocks noGrp="1"/>
          </p:cNvSpPr>
          <p:nvPr>
            <p:ph type="title"/>
          </p:nvPr>
        </p:nvSpPr>
        <p:spPr>
          <a:xfrm>
            <a:off x="835155" y="552906"/>
            <a:ext cx="5165936" cy="1674904"/>
          </a:xfrm>
        </p:spPr>
        <p:txBody>
          <a:bodyPr anchor="ctr">
            <a:normAutofit/>
          </a:bodyPr>
          <a:lstStyle/>
          <a:p>
            <a:r>
              <a:rPr lang="tr-TR" sz="4000" dirty="0" err="1"/>
              <a:t>Thanks</a:t>
            </a:r>
            <a:r>
              <a:rPr lang="tr-TR" sz="4000" dirty="0"/>
              <a:t> </a:t>
            </a:r>
            <a:r>
              <a:rPr lang="tr-TR" sz="4000" dirty="0" err="1"/>
              <a:t>for</a:t>
            </a:r>
            <a:r>
              <a:rPr lang="tr-TR" sz="4000" dirty="0"/>
              <a:t> </a:t>
            </a:r>
            <a:r>
              <a:rPr lang="tr-TR" sz="4000" dirty="0" err="1"/>
              <a:t>Listening</a:t>
            </a:r>
          </a:p>
        </p:txBody>
      </p:sp>
      <p:sp>
        <p:nvSpPr>
          <p:cNvPr id="3" name="Content Placeholder 2">
            <a:extLst>
              <a:ext uri="{FF2B5EF4-FFF2-40B4-BE49-F238E27FC236}">
                <a16:creationId xmlns:a16="http://schemas.microsoft.com/office/drawing/2014/main" id="{1A5D9A76-5B9A-004A-4CE5-D069182BFCFE}"/>
              </a:ext>
            </a:extLst>
          </p:cNvPr>
          <p:cNvSpPr>
            <a:spLocks noGrp="1"/>
          </p:cNvSpPr>
          <p:nvPr>
            <p:ph idx="1"/>
          </p:nvPr>
        </p:nvSpPr>
        <p:spPr>
          <a:xfrm>
            <a:off x="6190909" y="552906"/>
            <a:ext cx="5159825" cy="1674905"/>
          </a:xfrm>
        </p:spPr>
        <p:txBody>
          <a:bodyPr vert="horz" lIns="91440" tIns="45720" rIns="91440" bIns="45720" rtlCol="0" anchor="ctr">
            <a:normAutofit/>
          </a:bodyPr>
          <a:lstStyle/>
          <a:p>
            <a:pPr marL="0" indent="0">
              <a:buNone/>
            </a:pPr>
            <a:r>
              <a:rPr lang="tr-TR" sz="2000" dirty="0"/>
              <a:t>Nazif ÇELİK              090200712</a:t>
            </a:r>
            <a:endParaRPr lang="tr-TR" dirty="0"/>
          </a:p>
        </p:txBody>
      </p:sp>
      <p:pic>
        <p:nvPicPr>
          <p:cNvPr id="4" name="Resim 3" descr="Tune your SIEM to be GDPR Compliant">
            <a:extLst>
              <a:ext uri="{FF2B5EF4-FFF2-40B4-BE49-F238E27FC236}">
                <a16:creationId xmlns:a16="http://schemas.microsoft.com/office/drawing/2014/main" id="{820AD05B-B5B3-B52D-13A1-70CE6CE5BC3E}"/>
              </a:ext>
            </a:extLst>
          </p:cNvPr>
          <p:cNvPicPr>
            <a:picLocks noChangeAspect="1"/>
          </p:cNvPicPr>
          <p:nvPr/>
        </p:nvPicPr>
        <p:blipFill>
          <a:blip r:embed="rId2"/>
          <a:stretch>
            <a:fillRect/>
          </a:stretch>
        </p:blipFill>
        <p:spPr>
          <a:xfrm>
            <a:off x="2193555" y="2405149"/>
            <a:ext cx="7798790" cy="3899395"/>
          </a:xfrm>
          <a:prstGeom prst="rect">
            <a:avLst/>
          </a:prstGeom>
        </p:spPr>
      </p:pic>
    </p:spTree>
    <p:extLst>
      <p:ext uri="{BB962C8B-B14F-4D97-AF65-F5344CB8AC3E}">
        <p14:creationId xmlns:p14="http://schemas.microsoft.com/office/powerpoint/2010/main" val="4228152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DEC2-DCBD-93E2-0C5A-6D1DB615F910}"/>
              </a:ext>
            </a:extLst>
          </p:cNvPr>
          <p:cNvSpPr>
            <a:spLocks noGrp="1"/>
          </p:cNvSpPr>
          <p:nvPr>
            <p:ph type="title"/>
          </p:nvPr>
        </p:nvSpPr>
        <p:spPr/>
        <p:txBody>
          <a:bodyPr/>
          <a:lstStyle/>
          <a:p>
            <a:r>
              <a:rPr lang="tr-TR"/>
              <a:t>Reference</a:t>
            </a:r>
          </a:p>
        </p:txBody>
      </p:sp>
      <p:sp>
        <p:nvSpPr>
          <p:cNvPr id="3" name="Content Placeholder 2">
            <a:extLst>
              <a:ext uri="{FF2B5EF4-FFF2-40B4-BE49-F238E27FC236}">
                <a16:creationId xmlns:a16="http://schemas.microsoft.com/office/drawing/2014/main" id="{1706F4ED-5330-7675-BD09-62266D35BC39}"/>
              </a:ext>
            </a:extLst>
          </p:cNvPr>
          <p:cNvSpPr>
            <a:spLocks noGrp="1"/>
          </p:cNvSpPr>
          <p:nvPr>
            <p:ph idx="1"/>
          </p:nvPr>
        </p:nvSpPr>
        <p:spPr/>
        <p:txBody>
          <a:bodyPr vert="horz" lIns="91440" tIns="45720" rIns="91440" bIns="45720" rtlCol="0" anchor="t">
            <a:normAutofit/>
          </a:bodyPr>
          <a:lstStyle/>
          <a:p>
            <a:r>
              <a:rPr lang="tr-TR" dirty="0">
                <a:ea typeface="+mn-lt"/>
                <a:cs typeface="+mn-lt"/>
                <a:hlinkClick r:id="rId2"/>
              </a:rPr>
              <a:t>https://www.sciencedirect.com/science/article/pii/S2352012422007688</a:t>
            </a:r>
          </a:p>
          <a:p>
            <a:pPr marL="0" indent="0"/>
            <a:r>
              <a:rPr lang="tr-TR" dirty="0">
                <a:ea typeface="+mn-lt"/>
                <a:cs typeface="+mn-lt"/>
              </a:rPr>
              <a:t> </a:t>
            </a:r>
            <a:r>
              <a:rPr lang="tr-TR" dirty="0" err="1">
                <a:ea typeface="+mn-lt"/>
                <a:cs typeface="+mn-lt"/>
              </a:rPr>
              <a:t>Neural</a:t>
            </a:r>
            <a:r>
              <a:rPr lang="tr-TR" dirty="0">
                <a:ea typeface="+mn-lt"/>
                <a:cs typeface="+mn-lt"/>
              </a:rPr>
              <a:t> </a:t>
            </a:r>
            <a:r>
              <a:rPr lang="tr-TR" dirty="0" err="1">
                <a:ea typeface="+mn-lt"/>
                <a:cs typeface="+mn-lt"/>
              </a:rPr>
              <a:t>Additive</a:t>
            </a:r>
            <a:r>
              <a:rPr lang="tr-TR" dirty="0">
                <a:ea typeface="+mn-lt"/>
                <a:cs typeface="+mn-lt"/>
              </a:rPr>
              <a:t> </a:t>
            </a:r>
            <a:r>
              <a:rPr lang="tr-TR" dirty="0" err="1">
                <a:ea typeface="+mn-lt"/>
                <a:cs typeface="+mn-lt"/>
              </a:rPr>
              <a:t>Models</a:t>
            </a:r>
            <a:r>
              <a:rPr lang="tr-TR" dirty="0">
                <a:ea typeface="+mn-lt"/>
                <a:cs typeface="+mn-lt"/>
              </a:rPr>
              <a:t>: </a:t>
            </a:r>
            <a:r>
              <a:rPr lang="tr-TR" dirty="0" err="1">
                <a:ea typeface="+mn-lt"/>
                <a:cs typeface="+mn-lt"/>
              </a:rPr>
              <a:t>Interpretable</a:t>
            </a:r>
            <a:r>
              <a:rPr lang="tr-TR" dirty="0">
                <a:ea typeface="+mn-lt"/>
                <a:cs typeface="+mn-lt"/>
              </a:rPr>
              <a:t> Machine Learning </a:t>
            </a:r>
            <a:r>
              <a:rPr lang="tr-TR" dirty="0" err="1">
                <a:ea typeface="+mn-lt"/>
                <a:cs typeface="+mn-lt"/>
              </a:rPr>
              <a:t>with</a:t>
            </a:r>
            <a:r>
              <a:rPr lang="tr-TR" dirty="0">
                <a:ea typeface="+mn-lt"/>
                <a:cs typeface="+mn-lt"/>
              </a:rPr>
              <a:t> </a:t>
            </a:r>
            <a:r>
              <a:rPr lang="tr-TR" dirty="0" err="1">
                <a:ea typeface="+mn-lt"/>
                <a:cs typeface="+mn-lt"/>
              </a:rPr>
              <a:t>Neural</a:t>
            </a:r>
            <a:r>
              <a:rPr lang="tr-TR" dirty="0">
                <a:ea typeface="+mn-lt"/>
                <a:cs typeface="+mn-lt"/>
              </a:rPr>
              <a:t> </a:t>
            </a:r>
            <a:r>
              <a:rPr lang="tr-TR" dirty="0" err="1">
                <a:ea typeface="+mn-lt"/>
                <a:cs typeface="+mn-lt"/>
              </a:rPr>
              <a:t>Nets</a:t>
            </a:r>
            <a:r>
              <a:rPr lang="tr-TR" dirty="0">
                <a:ea typeface="+mn-lt"/>
                <a:cs typeface="+mn-lt"/>
              </a:rPr>
              <a:t>. </a:t>
            </a:r>
            <a:r>
              <a:rPr lang="tr-TR" dirty="0" err="1">
                <a:ea typeface="+mn-lt"/>
                <a:cs typeface="+mn-lt"/>
              </a:rPr>
              <a:t>NeurIPS</a:t>
            </a:r>
            <a:r>
              <a:rPr lang="tr-TR" dirty="0">
                <a:ea typeface="+mn-lt"/>
                <a:cs typeface="+mn-lt"/>
              </a:rPr>
              <a:t> 2021</a:t>
            </a:r>
          </a:p>
          <a:p>
            <a:pPr marL="0" indent="0"/>
            <a:r>
              <a:rPr lang="tr-TR" dirty="0">
                <a:ea typeface="+mn-lt"/>
                <a:cs typeface="+mn-lt"/>
              </a:rPr>
              <a:t> </a:t>
            </a:r>
            <a:r>
              <a:rPr lang="tr-TR" dirty="0" err="1">
                <a:ea typeface="+mn-lt"/>
                <a:cs typeface="+mn-lt"/>
              </a:rPr>
              <a:t>Scikit-Learn</a:t>
            </a:r>
            <a:r>
              <a:rPr lang="tr-TR" dirty="0">
                <a:ea typeface="+mn-lt"/>
                <a:cs typeface="+mn-lt"/>
              </a:rPr>
              <a:t> </a:t>
            </a:r>
            <a:r>
              <a:rPr lang="tr-TR" dirty="0" err="1">
                <a:ea typeface="+mn-lt"/>
                <a:cs typeface="+mn-lt"/>
              </a:rPr>
              <a:t>Documentation</a:t>
            </a:r>
            <a:r>
              <a:rPr lang="tr-TR" dirty="0">
                <a:ea typeface="+mn-lt"/>
                <a:cs typeface="+mn-lt"/>
              </a:rPr>
              <a:t>. </a:t>
            </a:r>
            <a:r>
              <a:rPr lang="tr-TR" dirty="0" err="1">
                <a:ea typeface="+mn-lt"/>
                <a:cs typeface="+mn-lt"/>
              </a:rPr>
              <a:t>MultiOutputRegressor</a:t>
            </a:r>
            <a:endParaRPr lang="tr-TR" dirty="0">
              <a:ea typeface="+mn-lt"/>
              <a:cs typeface="+mn-lt"/>
            </a:endParaRPr>
          </a:p>
          <a:p>
            <a:pPr marL="0" indent="0"/>
            <a:r>
              <a:rPr lang="tr-TR" dirty="0">
                <a:ea typeface="+mn-lt"/>
                <a:cs typeface="+mn-lt"/>
              </a:rPr>
              <a:t> </a:t>
            </a:r>
            <a:r>
              <a:rPr lang="tr-TR" dirty="0" err="1">
                <a:ea typeface="+mn-lt"/>
                <a:cs typeface="+mn-lt"/>
              </a:rPr>
              <a:t>ApX</a:t>
            </a:r>
            <a:r>
              <a:rPr lang="tr-TR" dirty="0">
                <a:ea typeface="+mn-lt"/>
                <a:cs typeface="+mn-lt"/>
              </a:rPr>
              <a:t> Machine Learning. SHAP </a:t>
            </a:r>
            <a:r>
              <a:rPr lang="tr-TR" dirty="0" err="1">
                <a:ea typeface="+mn-lt"/>
                <a:cs typeface="+mn-lt"/>
              </a:rPr>
              <a:t>Summary</a:t>
            </a:r>
            <a:r>
              <a:rPr lang="tr-TR" dirty="0">
                <a:ea typeface="+mn-lt"/>
                <a:cs typeface="+mn-lt"/>
              </a:rPr>
              <a:t> &amp; </a:t>
            </a:r>
            <a:r>
              <a:rPr lang="tr-TR" dirty="0" err="1">
                <a:ea typeface="+mn-lt"/>
                <a:cs typeface="+mn-lt"/>
              </a:rPr>
              <a:t>Dependence</a:t>
            </a:r>
            <a:r>
              <a:rPr lang="tr-TR" dirty="0">
                <a:ea typeface="+mn-lt"/>
                <a:cs typeface="+mn-lt"/>
              </a:rPr>
              <a:t> </a:t>
            </a:r>
            <a:r>
              <a:rPr lang="tr-TR" dirty="0" err="1">
                <a:ea typeface="+mn-lt"/>
                <a:cs typeface="+mn-lt"/>
              </a:rPr>
              <a:t>Plots</a:t>
            </a:r>
            <a:r>
              <a:rPr lang="tr-TR" dirty="0">
                <a:ea typeface="+mn-lt"/>
                <a:cs typeface="+mn-lt"/>
              </a:rPr>
              <a:t> – Model </a:t>
            </a:r>
            <a:r>
              <a:rPr lang="tr-TR" dirty="0" err="1">
                <a:ea typeface="+mn-lt"/>
                <a:cs typeface="+mn-lt"/>
              </a:rPr>
              <a:t>Interpretability</a:t>
            </a:r>
            <a:r>
              <a:rPr lang="tr-TR" dirty="0">
                <a:ea typeface="+mn-lt"/>
                <a:cs typeface="+mn-lt"/>
              </a:rPr>
              <a:t> Course. </a:t>
            </a:r>
          </a:p>
          <a:p>
            <a:pPr marL="0" indent="0"/>
            <a:r>
              <a:rPr lang="tr-TR" dirty="0">
                <a:ea typeface="+mn-lt"/>
                <a:cs typeface="+mn-lt"/>
              </a:rPr>
              <a:t> </a:t>
            </a:r>
            <a:r>
              <a:rPr lang="tr-TR" dirty="0" err="1">
                <a:ea typeface="+mn-lt"/>
                <a:cs typeface="+mn-lt"/>
              </a:rPr>
              <a:t>SHapley</a:t>
            </a:r>
            <a:r>
              <a:rPr lang="tr-TR" dirty="0">
                <a:ea typeface="+mn-lt"/>
                <a:cs typeface="+mn-lt"/>
              </a:rPr>
              <a:t> </a:t>
            </a:r>
            <a:r>
              <a:rPr lang="tr-TR" dirty="0" err="1">
                <a:ea typeface="+mn-lt"/>
                <a:cs typeface="+mn-lt"/>
              </a:rPr>
              <a:t>Additive</a:t>
            </a:r>
            <a:r>
              <a:rPr lang="tr-TR" dirty="0">
                <a:ea typeface="+mn-lt"/>
                <a:cs typeface="+mn-lt"/>
              </a:rPr>
              <a:t> </a:t>
            </a:r>
            <a:r>
              <a:rPr lang="tr-TR" dirty="0" err="1">
                <a:ea typeface="+mn-lt"/>
                <a:cs typeface="+mn-lt"/>
              </a:rPr>
              <a:t>exPlanations</a:t>
            </a:r>
            <a:r>
              <a:rPr lang="tr-TR" dirty="0">
                <a:ea typeface="+mn-lt"/>
                <a:cs typeface="+mn-lt"/>
              </a:rPr>
              <a:t> </a:t>
            </a:r>
            <a:r>
              <a:rPr lang="tr-TR" dirty="0" err="1">
                <a:ea typeface="+mn-lt"/>
                <a:cs typeface="+mn-lt"/>
              </a:rPr>
              <a:t>or</a:t>
            </a:r>
            <a:r>
              <a:rPr lang="tr-TR" dirty="0">
                <a:ea typeface="+mn-lt"/>
                <a:cs typeface="+mn-lt"/>
              </a:rPr>
              <a:t> SHAP : </a:t>
            </a:r>
            <a:r>
              <a:rPr lang="tr-TR" dirty="0" err="1">
                <a:ea typeface="+mn-lt"/>
                <a:cs typeface="+mn-lt"/>
              </a:rPr>
              <a:t>What</a:t>
            </a:r>
            <a:r>
              <a:rPr lang="tr-TR" dirty="0">
                <a:ea typeface="+mn-lt"/>
                <a:cs typeface="+mn-lt"/>
              </a:rPr>
              <a:t> is it ?</a:t>
            </a:r>
            <a:endParaRPr lang="tr-TR" dirty="0"/>
          </a:p>
        </p:txBody>
      </p:sp>
    </p:spTree>
    <p:extLst>
      <p:ext uri="{BB962C8B-B14F-4D97-AF65-F5344CB8AC3E}">
        <p14:creationId xmlns:p14="http://schemas.microsoft.com/office/powerpoint/2010/main" val="1842660321"/>
      </p:ext>
    </p:extLst>
  </p:cSld>
  <p:clrMapOvr>
    <a:masterClrMapping/>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Ofis Teması</vt:lpstr>
      <vt:lpstr>Explainable Voltage Prediction using NAMs in Power Grids </vt:lpstr>
      <vt:lpstr>PV-Based Scenario</vt:lpstr>
      <vt:lpstr>Features Definition </vt:lpstr>
      <vt:lpstr>PowerPoint Presentation</vt:lpstr>
      <vt:lpstr>PowerPoint Presentation</vt:lpstr>
      <vt:lpstr>Input Features Correlation</vt:lpstr>
      <vt:lpstr>PowerPoint Presentation</vt:lpstr>
      <vt:lpstr>Selected Voltage Buses Distribution</vt:lpstr>
      <vt:lpstr>PowerPoint Presentation</vt:lpstr>
      <vt:lpstr>Training process</vt:lpstr>
      <vt:lpstr>=== NAM Feature Effect Analysis ===   Tap1:   Bus 6: positive relationship (slope: 0.6095)   Bus 18: positive relationship (slope: 0.0495)   Bus 29: positive relationship (slope: 0.5031)   PV3loc:   Bus 6: negative relationship (slope: -0.0483)   Bus 18: minimal effect (slope: 0.0005)   Bus 29: negative relationship (slope: -0.1066)   PV3size:   Bus 6: negative relationship (slope: -0.0562)   Bus 18: positive relationship (slope: 0.0339)   Bus 29: negative relationship (slope: -0.0638)</vt:lpstr>
      <vt:lpstr>NAM </vt:lpstr>
      <vt:lpstr>Random Forest </vt:lpstr>
      <vt:lpstr>XGBOOST</vt:lpstr>
      <vt:lpstr>PowerPoint Presentation</vt:lpstr>
      <vt:lpstr>Conclusion</vt:lpstr>
      <vt:lpstr>• Was SHAP able to recover similar patterns to the NAM plots?</vt:lpstr>
      <vt:lpstr>• Are there any discrepancies between the importance values or direction of effect?</vt:lpstr>
      <vt:lpstr>General Evaluation</vt:lpstr>
      <vt:lpstr>Thanks for Listening</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162</cp:revision>
  <dcterms:created xsi:type="dcterms:W3CDTF">2025-05-29T00:53:45Z</dcterms:created>
  <dcterms:modified xsi:type="dcterms:W3CDTF">2025-05-30T20:05:59Z</dcterms:modified>
</cp:coreProperties>
</file>